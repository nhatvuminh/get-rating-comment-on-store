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7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8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9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10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11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12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5274d1168c4a10" /><Relationship Type="http://schemas.openxmlformats.org/officeDocument/2006/relationships/extended-properties" Target="/docProps/app.xml" Id="Re2bcc2a0aaa24dae" /><Relationship Type="http://schemas.openxmlformats.org/officeDocument/2006/relationships/officeDocument" Target="/ppt/presentation.xml" Id="R014ccdc869804c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c626aab6174fef"/>
    <p:sldMasterId xmlns:r="http://schemas.openxmlformats.org/officeDocument/2006/relationships" id="2147483650" r:id="R2079b538a8294bed"/>
  </p:sldMasterIdLst>
  <p:notesMasterIdLst>
    <p:notesMasterId xmlns:r="http://schemas.openxmlformats.org/officeDocument/2006/relationships" r:id="R317660536843481f"/>
  </p:notesMasterIdLst>
  <p:sldIdLst>
    <p:sldId xmlns:r="http://schemas.openxmlformats.org/officeDocument/2006/relationships" id="256" r:id="Rfc82e9c1527848f0"/>
    <p:sldId xmlns:r="http://schemas.openxmlformats.org/officeDocument/2006/relationships" id="257" r:id="R0b3f372cc7df43b3"/>
    <p:sldId xmlns:r="http://schemas.openxmlformats.org/officeDocument/2006/relationships" id="258" r:id="R7cdf01bc3e814970"/>
    <p:sldId xmlns:r="http://schemas.openxmlformats.org/officeDocument/2006/relationships" id="259" r:id="R90075523946642ba"/>
    <p:sldId xmlns:r="http://schemas.openxmlformats.org/officeDocument/2006/relationships" id="260" r:id="R21f3455b5c7b45c1"/>
    <p:sldId xmlns:r="http://schemas.openxmlformats.org/officeDocument/2006/relationships" id="261" r:id="R8bf64f28a6844688"/>
    <p:sldId xmlns:r="http://schemas.openxmlformats.org/officeDocument/2006/relationships" id="262" r:id="R8177371f9901444e"/>
    <p:sldId xmlns:r="http://schemas.openxmlformats.org/officeDocument/2006/relationships" id="263" r:id="Ra03563edceba416a"/>
    <p:sldId xmlns:r="http://schemas.openxmlformats.org/officeDocument/2006/relationships" id="264" r:id="R94cb220571324a90"/>
    <p:sldId xmlns:r="http://schemas.openxmlformats.org/officeDocument/2006/relationships" id="265" r:id="Rff775350b5004b1e"/>
    <p:sldId xmlns:r="http://schemas.openxmlformats.org/officeDocument/2006/relationships" id="266" r:id="Rc0e92adc654045e0"/>
    <p:sldId xmlns:r="http://schemas.openxmlformats.org/officeDocument/2006/relationships" id="267" r:id="Rf272069fb3b24d0a"/>
    <p:sldId xmlns:r="http://schemas.openxmlformats.org/officeDocument/2006/relationships" id="268" r:id="Rc74c52e4711f44fe"/>
    <p:sldId xmlns:r="http://schemas.openxmlformats.org/officeDocument/2006/relationships" id="269" r:id="Rf3ccdbec84c04ca0"/>
    <p:sldId xmlns:r="http://schemas.openxmlformats.org/officeDocument/2006/relationships" id="270" r:id="R3112404c76a34b8a"/>
    <p:sldId xmlns:r="http://schemas.openxmlformats.org/officeDocument/2006/relationships" id="271" r:id="Rfbf6d50d1c5b4bda"/>
    <p:sldId xmlns:r="http://schemas.openxmlformats.org/officeDocument/2006/relationships" id="272" r:id="R9503ef5a25c84677"/>
    <p:sldId xmlns:r="http://schemas.openxmlformats.org/officeDocument/2006/relationships" id="273" r:id="R96d1446791db4a49"/>
    <p:sldId xmlns:r="http://schemas.openxmlformats.org/officeDocument/2006/relationships" id="274" r:id="R350aac806b2845e3"/>
    <p:sldId xmlns:r="http://schemas.openxmlformats.org/officeDocument/2006/relationships" id="275" r:id="R4780c575f8ad40f5"/>
    <p:sldId xmlns:r="http://schemas.openxmlformats.org/officeDocument/2006/relationships" id="276" r:id="Rb39bb7a57a5842e2"/>
    <p:sldId xmlns:r="http://schemas.openxmlformats.org/officeDocument/2006/relationships" id="277" r:id="R1d7eb0937cbb47eb"/>
    <p:sldId xmlns:r="http://schemas.openxmlformats.org/officeDocument/2006/relationships" id="278" r:id="R1ac5f9c7caaf4107"/>
    <p:sldId xmlns:r="http://schemas.openxmlformats.org/officeDocument/2006/relationships" id="279" r:id="R41bbda834e154338"/>
    <p:sldId xmlns:r="http://schemas.openxmlformats.org/officeDocument/2006/relationships" id="280" r:id="R2396793464d1428d"/>
    <p:sldId xmlns:r="http://schemas.openxmlformats.org/officeDocument/2006/relationships" id="281" r:id="Reef392afbad8473b"/>
    <p:sldId xmlns:r="http://schemas.openxmlformats.org/officeDocument/2006/relationships" id="282" r:id="R13965c9682ff43ac"/>
    <p:sldId xmlns:r="http://schemas.openxmlformats.org/officeDocument/2006/relationships" id="283" r:id="Rf30fd09cdf0f4057"/>
    <p:sldId xmlns:r="http://schemas.openxmlformats.org/officeDocument/2006/relationships" id="284" r:id="R117aa5f2545649b6"/>
    <p:sldId xmlns:r="http://schemas.openxmlformats.org/officeDocument/2006/relationships" id="285" r:id="Rcf68bedbeb644625"/>
    <p:sldId xmlns:r="http://schemas.openxmlformats.org/officeDocument/2006/relationships" id="286" r:id="R7cf5b8ab188a4732"/>
    <p:sldId xmlns:r="http://schemas.openxmlformats.org/officeDocument/2006/relationships" id="287" r:id="Rdbccc2f194ea4455"/>
    <p:sldId xmlns:r="http://schemas.openxmlformats.org/officeDocument/2006/relationships" id="288" r:id="Rbad457f30cb24ca9"/>
    <p:sldId xmlns:r="http://schemas.openxmlformats.org/officeDocument/2006/relationships" id="289" r:id="R39a2834beef546cb"/>
    <p:sldId xmlns:r="http://schemas.openxmlformats.org/officeDocument/2006/relationships" id="290" r:id="R3ae650296a9f431f"/>
    <p:sldId xmlns:r="http://schemas.openxmlformats.org/officeDocument/2006/relationships" id="291" r:id="Rf9e5726664234791"/>
    <p:sldId xmlns:r="http://schemas.openxmlformats.org/officeDocument/2006/relationships" id="292" r:id="R127ba6810a024656"/>
    <p:sldId xmlns:r="http://schemas.openxmlformats.org/officeDocument/2006/relationships" id="293" r:id="R935176f0629c433a"/>
    <p:sldId xmlns:r="http://schemas.openxmlformats.org/officeDocument/2006/relationships" id="294" r:id="R674f431d15604d75"/>
    <p:sldId xmlns:r="http://schemas.openxmlformats.org/officeDocument/2006/relationships" id="295" r:id="R894c74dc3e024d3d"/>
    <p:sldId xmlns:r="http://schemas.openxmlformats.org/officeDocument/2006/relationships" id="296" r:id="R188458bd969a47f7"/>
    <p:sldId xmlns:r="http://schemas.openxmlformats.org/officeDocument/2006/relationships" id="297" r:id="R97fd44094e27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3ada13e0fa496b" /><Relationship Type="http://schemas.openxmlformats.org/officeDocument/2006/relationships/slideMaster" Target="/ppt/slideMasters/slideMaster1.xml" Id="Rc1c626aab6174fef" /><Relationship Type="http://schemas.openxmlformats.org/officeDocument/2006/relationships/slideMaster" Target="/ppt/slideMasters/slideMaster2.xml" Id="R2079b538a8294bed" /><Relationship Type="http://schemas.openxmlformats.org/officeDocument/2006/relationships/notesMaster" Target="/ppt/notesMasters/notesMaster1.xml" Id="R317660536843481f" /><Relationship Type="http://schemas.openxmlformats.org/officeDocument/2006/relationships/presProps" Target="/ppt/presProps.xml" Id="R62765d08cd8c4589" /><Relationship Type="http://schemas.openxmlformats.org/officeDocument/2006/relationships/tableStyles" Target="/ppt/tableStyles.xml" Id="R9a356921c7234429" /><Relationship Type="http://schemas.openxmlformats.org/officeDocument/2006/relationships/slide" Target="/ppt/slides/slide1.xml" Id="Rfc82e9c1527848f0" /><Relationship Type="http://schemas.openxmlformats.org/officeDocument/2006/relationships/slide" Target="/ppt/slides/slide2.xml" Id="R0b3f372cc7df43b3" /><Relationship Type="http://schemas.openxmlformats.org/officeDocument/2006/relationships/slide" Target="/ppt/slides/slide3.xml" Id="R7cdf01bc3e814970" /><Relationship Type="http://schemas.openxmlformats.org/officeDocument/2006/relationships/slide" Target="/ppt/slides/slide4.xml" Id="R90075523946642ba" /><Relationship Type="http://schemas.openxmlformats.org/officeDocument/2006/relationships/slide" Target="/ppt/slides/slide5.xml" Id="R21f3455b5c7b45c1" /><Relationship Type="http://schemas.openxmlformats.org/officeDocument/2006/relationships/slide" Target="/ppt/slides/slide6.xml" Id="R8bf64f28a6844688" /><Relationship Type="http://schemas.openxmlformats.org/officeDocument/2006/relationships/slide" Target="/ppt/slides/slide7.xml" Id="R8177371f9901444e" /><Relationship Type="http://schemas.openxmlformats.org/officeDocument/2006/relationships/slide" Target="/ppt/slides/slide8.xml" Id="Ra03563edceba416a" /><Relationship Type="http://schemas.openxmlformats.org/officeDocument/2006/relationships/slide" Target="/ppt/slides/slide9.xml" Id="R94cb220571324a90" /><Relationship Type="http://schemas.openxmlformats.org/officeDocument/2006/relationships/slide" Target="/ppt/slides/slide10.xml" Id="Rff775350b5004b1e" /><Relationship Type="http://schemas.openxmlformats.org/officeDocument/2006/relationships/slide" Target="/ppt/slides/slide11.xml" Id="Rc0e92adc654045e0" /><Relationship Type="http://schemas.openxmlformats.org/officeDocument/2006/relationships/slide" Target="/ppt/slides/slide12.xml" Id="Rf272069fb3b24d0a" /><Relationship Type="http://schemas.openxmlformats.org/officeDocument/2006/relationships/slide" Target="/ppt/slides/slide13.xml" Id="Rc74c52e4711f44fe" /><Relationship Type="http://schemas.openxmlformats.org/officeDocument/2006/relationships/slide" Target="/ppt/slides/slide14.xml" Id="Rf3ccdbec84c04ca0" /><Relationship Type="http://schemas.openxmlformats.org/officeDocument/2006/relationships/slide" Target="/ppt/slides/slide15.xml" Id="R3112404c76a34b8a" /><Relationship Type="http://schemas.openxmlformats.org/officeDocument/2006/relationships/slide" Target="/ppt/slides/slide16.xml" Id="Rfbf6d50d1c5b4bda" /><Relationship Type="http://schemas.openxmlformats.org/officeDocument/2006/relationships/slide" Target="/ppt/slides/slide17.xml" Id="R9503ef5a25c84677" /><Relationship Type="http://schemas.openxmlformats.org/officeDocument/2006/relationships/slide" Target="/ppt/slides/slide18.xml" Id="R96d1446791db4a49" /><Relationship Type="http://schemas.openxmlformats.org/officeDocument/2006/relationships/slide" Target="/ppt/slides/slide19.xml" Id="R350aac806b2845e3" /><Relationship Type="http://schemas.openxmlformats.org/officeDocument/2006/relationships/slide" Target="/ppt/slides/slide20.xml" Id="R4780c575f8ad40f5" /><Relationship Type="http://schemas.openxmlformats.org/officeDocument/2006/relationships/slide" Target="/ppt/slides/slide21.xml" Id="Rb39bb7a57a5842e2" /><Relationship Type="http://schemas.openxmlformats.org/officeDocument/2006/relationships/slide" Target="/ppt/slides/slide22.xml" Id="R1d7eb0937cbb47eb" /><Relationship Type="http://schemas.openxmlformats.org/officeDocument/2006/relationships/slide" Target="/ppt/slides/slide23.xml" Id="R1ac5f9c7caaf4107" /><Relationship Type="http://schemas.openxmlformats.org/officeDocument/2006/relationships/slide" Target="/ppt/slides/slide24.xml" Id="R41bbda834e154338" /><Relationship Type="http://schemas.openxmlformats.org/officeDocument/2006/relationships/slide" Target="/ppt/slides/slide25.xml" Id="R2396793464d1428d" /><Relationship Type="http://schemas.openxmlformats.org/officeDocument/2006/relationships/slide" Target="/ppt/slides/slide26.xml" Id="Reef392afbad8473b" /><Relationship Type="http://schemas.openxmlformats.org/officeDocument/2006/relationships/slide" Target="/ppt/slides/slide27.xml" Id="R13965c9682ff43ac" /><Relationship Type="http://schemas.openxmlformats.org/officeDocument/2006/relationships/slide" Target="/ppt/slides/slide28.xml" Id="Rf30fd09cdf0f4057" /><Relationship Type="http://schemas.openxmlformats.org/officeDocument/2006/relationships/slide" Target="/ppt/slides/slide29.xml" Id="R117aa5f2545649b6" /><Relationship Type="http://schemas.openxmlformats.org/officeDocument/2006/relationships/slide" Target="/ppt/slides/slide30.xml" Id="Rcf68bedbeb644625" /><Relationship Type="http://schemas.openxmlformats.org/officeDocument/2006/relationships/slide" Target="/ppt/slides/slide31.xml" Id="R7cf5b8ab188a4732" /><Relationship Type="http://schemas.openxmlformats.org/officeDocument/2006/relationships/slide" Target="/ppt/slides/slide32.xml" Id="Rdbccc2f194ea4455" /><Relationship Type="http://schemas.openxmlformats.org/officeDocument/2006/relationships/slide" Target="/ppt/slides/slide33.xml" Id="Rbad457f30cb24ca9" /><Relationship Type="http://schemas.openxmlformats.org/officeDocument/2006/relationships/slide" Target="/ppt/slides/slide34.xml" Id="R39a2834beef546cb" /><Relationship Type="http://schemas.openxmlformats.org/officeDocument/2006/relationships/slide" Target="/ppt/slides/slide35.xml" Id="R3ae650296a9f431f" /><Relationship Type="http://schemas.openxmlformats.org/officeDocument/2006/relationships/slide" Target="/ppt/slides/slide36.xml" Id="Rf9e5726664234791" /><Relationship Type="http://schemas.openxmlformats.org/officeDocument/2006/relationships/slide" Target="/ppt/slides/slide37.xml" Id="R127ba6810a024656" /><Relationship Type="http://schemas.openxmlformats.org/officeDocument/2006/relationships/slide" Target="/ppt/slides/slide38.xml" Id="R935176f0629c433a" /><Relationship Type="http://schemas.openxmlformats.org/officeDocument/2006/relationships/slide" Target="/ppt/slides/slide39.xml" Id="R674f431d15604d75" /><Relationship Type="http://schemas.openxmlformats.org/officeDocument/2006/relationships/slide" Target="/ppt/slides/slide40.xml" Id="R894c74dc3e024d3d" /><Relationship Type="http://schemas.openxmlformats.org/officeDocument/2006/relationships/slide" Target="/ppt/slides/slide41.xml" Id="R188458bd969a47f7" /><Relationship Type="http://schemas.openxmlformats.org/officeDocument/2006/relationships/slide" Target="/ppt/slides/slide42.xml" Id="R97fd44094e27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244eb4dfa124d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MB Finance Banking">
      <a:dk1>
        <a:srgbClr val="000000"/>
      </a:dk1>
      <a:lt1>
        <a:srgbClr val="FFFFFF"/>
      </a:lt1>
      <a:dk2>
        <a:srgbClr val="081235"/>
      </a:dk2>
      <a:lt2>
        <a:srgbClr val="E9ECFF"/>
      </a:lt2>
      <a:accent1>
        <a:srgbClr val="171EDB"/>
      </a:accent1>
      <a:accent2>
        <a:srgbClr val="F50912"/>
      </a:accent2>
      <a:accent3>
        <a:srgbClr val="081235"/>
      </a:accent3>
      <a:accent4>
        <a:srgbClr val="8A91A8"/>
      </a:accent4>
      <a:accent5>
        <a:srgbClr val="E9ECFF"/>
      </a:accent5>
      <a:accent6>
        <a:srgbClr val="0E9F6E"/>
      </a:accent6>
      <a:hlink>
        <a:srgbClr val="171EDB"/>
      </a:hlink>
      <a:folHlink>
        <a:srgbClr val="F5091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B Finance Bank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0c1cc865ae49f5" /><Relationship Type="http://schemas.openxmlformats.org/officeDocument/2006/relationships/notesMaster" Target="/ppt/notesMasters/notesMaster1.xml" Id="Redd5965beb8845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16b2cceede4b59" /><Relationship Type="http://schemas.openxmlformats.org/officeDocument/2006/relationships/notesMaster" Target="/ppt/notesMasters/notesMaster1.xml" Id="R58b7d87f78e844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5ab56a349f4684" /><Relationship Type="http://schemas.openxmlformats.org/officeDocument/2006/relationships/notesMaster" Target="/ppt/notesMasters/notesMaster1.xml" Id="R365c5d87164048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5f3f63afc245f1" /><Relationship Type="http://schemas.openxmlformats.org/officeDocument/2006/relationships/notesMaster" Target="/ppt/notesMasters/notesMaster1.xml" Id="R40668ced349f40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4ff92a54ae4aba" /><Relationship Type="http://schemas.openxmlformats.org/officeDocument/2006/relationships/notesMaster" Target="/ppt/notesMasters/notesMaster1.xml" Id="R9c59620d860f46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11d51ca78343bb" /><Relationship Type="http://schemas.openxmlformats.org/officeDocument/2006/relationships/notesMaster" Target="/ppt/notesMasters/notesMaster1.xml" Id="Rf1746cd45ac74e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f7e6ec0ea74320" /><Relationship Type="http://schemas.openxmlformats.org/officeDocument/2006/relationships/notesMaster" Target="/ppt/notesMasters/notesMaster1.xml" Id="Rb87c2b8ae5eb41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3a967865b148ad" /><Relationship Type="http://schemas.openxmlformats.org/officeDocument/2006/relationships/notesMaster" Target="/ppt/notesMasters/notesMaster1.xml" Id="Rcba5df0b403046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303111181d4bf9" /><Relationship Type="http://schemas.openxmlformats.org/officeDocument/2006/relationships/notesMaster" Target="/ppt/notesMasters/notesMaster1.xml" Id="R891801a6813440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1c10f54d60444b" /><Relationship Type="http://schemas.openxmlformats.org/officeDocument/2006/relationships/notesMaster" Target="/ppt/notesMasters/notesMaster1.xml" Id="Re70a3df36aad4e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05a71ed6944f51" /><Relationship Type="http://schemas.openxmlformats.org/officeDocument/2006/relationships/notesMaster" Target="/ppt/notesMasters/notesMaster1.xml" Id="Re50ccb57b2234b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895466c7f6488b" /><Relationship Type="http://schemas.openxmlformats.org/officeDocument/2006/relationships/notesMaster" Target="/ppt/notesMasters/notesMaster1.xml" Id="Rf04654ee6bbe46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416031581b4605" /><Relationship Type="http://schemas.openxmlformats.org/officeDocument/2006/relationships/notesMaster" Target="/ppt/notesMasters/notesMaster1.xml" Id="Raadc2cf7f87443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d7b6a46c424538" /><Relationship Type="http://schemas.openxmlformats.org/officeDocument/2006/relationships/notesMaster" Target="/ppt/notesMasters/notesMaster1.xml" Id="Rcc8b008b8af94c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d0f798c31b431d" /><Relationship Type="http://schemas.openxmlformats.org/officeDocument/2006/relationships/notesMaster" Target="/ppt/notesMasters/notesMaster1.xml" Id="Rd91036988bee41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953fbe333441e3" /><Relationship Type="http://schemas.openxmlformats.org/officeDocument/2006/relationships/notesMaster" Target="/ppt/notesMasters/notesMaster1.xml" Id="R9a2bcb2afe434c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c01ddb92624789" /><Relationship Type="http://schemas.openxmlformats.org/officeDocument/2006/relationships/notesMaster" Target="/ppt/notesMasters/notesMaster1.xml" Id="Rc4ce35c7aa9249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36fab1f7b34d94" /><Relationship Type="http://schemas.openxmlformats.org/officeDocument/2006/relationships/notesMaster" Target="/ppt/notesMasters/notesMaster1.xml" Id="Rc8c455e34b5f46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9dc0dd05f94c30" /><Relationship Type="http://schemas.openxmlformats.org/officeDocument/2006/relationships/notesMaster" Target="/ppt/notesMasters/notesMaster1.xml" Id="R3dd6bfa3417845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c458673ea744db" /><Relationship Type="http://schemas.openxmlformats.org/officeDocument/2006/relationships/notesMaster" Target="/ppt/notesMasters/notesMaster1.xml" Id="R449ad7dc7a0a40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1b90519a77040d3" /><Relationship Type="http://schemas.openxmlformats.org/officeDocument/2006/relationships/notesMaster" Target="/ppt/notesMasters/notesMaster1.xml" Id="R8c0ca16238ab4b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d409538f7941d5" /><Relationship Type="http://schemas.openxmlformats.org/officeDocument/2006/relationships/notesMaster" Target="/ppt/notesMasters/notesMaster1.xml" Id="Rca505f9ad0ac4ca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5f6c22f6dd34f7e" /><Relationship Type="http://schemas.openxmlformats.org/officeDocument/2006/relationships/notesMaster" Target="/ppt/notesMasters/notesMaster1.xml" Id="R9e43df01d852461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bdc5e81c4bf4537" /><Relationship Type="http://schemas.openxmlformats.org/officeDocument/2006/relationships/notesMaster" Target="/ppt/notesMasters/notesMaster1.xml" Id="R8f034fa0824d4a7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a8d77a9e1c74845" /><Relationship Type="http://schemas.openxmlformats.org/officeDocument/2006/relationships/notesMaster" Target="/ppt/notesMasters/notesMaster1.xml" Id="R932a00f892564b1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b287757067c4c00" /><Relationship Type="http://schemas.openxmlformats.org/officeDocument/2006/relationships/notesMaster" Target="/ppt/notesMasters/notesMaster1.xml" Id="R07ef0dfe94f946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5d4d11b23134dfe" /><Relationship Type="http://schemas.openxmlformats.org/officeDocument/2006/relationships/notesMaster" Target="/ppt/notesMasters/notesMaster1.xml" Id="R957bede590cc4a1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161700bc81a4f74" /><Relationship Type="http://schemas.openxmlformats.org/officeDocument/2006/relationships/notesMaster" Target="/ppt/notesMasters/notesMaster1.xml" Id="R1508b64b5d96476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69f1bf9d27d4677" /><Relationship Type="http://schemas.openxmlformats.org/officeDocument/2006/relationships/notesMaster" Target="/ppt/notesMasters/notesMaster1.xml" Id="R0601f2183218446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68d928ee5f424b" /><Relationship Type="http://schemas.openxmlformats.org/officeDocument/2006/relationships/notesMaster" Target="/ppt/notesMasters/notesMaster1.xml" Id="R7efea07df0bb439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4519e0528d40f4" /><Relationship Type="http://schemas.openxmlformats.org/officeDocument/2006/relationships/notesMaster" Target="/ppt/notesMasters/notesMaster1.xml" Id="R01ab8cb770ff4d8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d1ca8bc967846df" /><Relationship Type="http://schemas.openxmlformats.org/officeDocument/2006/relationships/notesMaster" Target="/ppt/notesMasters/notesMaster1.xml" Id="Rd57eb1c939e1492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fa97314156d4516" /><Relationship Type="http://schemas.openxmlformats.org/officeDocument/2006/relationships/notesMaster" Target="/ppt/notesMasters/notesMaster1.xml" Id="R25750748b790426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80494e5ae634b77" /><Relationship Type="http://schemas.openxmlformats.org/officeDocument/2006/relationships/notesMaster" Target="/ppt/notesMasters/notesMaster1.xml" Id="Ra1642433e3794b0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25f8a5de2314ade" /><Relationship Type="http://schemas.openxmlformats.org/officeDocument/2006/relationships/notesMaster" Target="/ppt/notesMasters/notesMaster1.xml" Id="R498b183baa534db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261dc6124bb4670" /><Relationship Type="http://schemas.openxmlformats.org/officeDocument/2006/relationships/notesMaster" Target="/ppt/notesMasters/notesMaster1.xml" Id="R23f6702a99314e2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146ee5d82d04e09" /><Relationship Type="http://schemas.openxmlformats.org/officeDocument/2006/relationships/notesMaster" Target="/ppt/notesMasters/notesMaster1.xml" Id="Redcfbb9d6572457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f40120a74054419" /><Relationship Type="http://schemas.openxmlformats.org/officeDocument/2006/relationships/notesMaster" Target="/ppt/notesMasters/notesMaster1.xml" Id="R98a1bc3f8a05493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2117422d4bc4fed" /><Relationship Type="http://schemas.openxmlformats.org/officeDocument/2006/relationships/notesMaster" Target="/ppt/notesMasters/notesMaster1.xml" Id="R7f088578d1bb4cc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400fd0a1fb64b23" /><Relationship Type="http://schemas.openxmlformats.org/officeDocument/2006/relationships/notesMaster" Target="/ppt/notesMasters/notesMaster1.xml" Id="Re6cee62bc0d14b7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6360e0e920a418f" /><Relationship Type="http://schemas.openxmlformats.org/officeDocument/2006/relationships/notesMaster" Target="/ppt/notesMasters/notesMaster1.xml" Id="R13954b8bcac540f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562abb45fcc4db3" /><Relationship Type="http://schemas.openxmlformats.org/officeDocument/2006/relationships/notesMaster" Target="/ppt/notesMasters/notesMaster1.xml" Id="Rec3efa179400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Ảnh ‘MB Brand System’ do người dùng cung cấp: màu sắc, typography, grid, spacing và logo tham chiếu.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39da0a0b649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77828b439040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34572a42b549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a92ed20be647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cbdff58a494e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dbb8b58db9427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db1118bcbb4f8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f9b27e315948b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845f8ce4c34c8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de0667eba84e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3d450a6aa2469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add9dd4503423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07370ad6e6467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9e11f92ee0f4cf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723022c810421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4a01c80efe464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e3a4edd4a043b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f330e3aebe4e2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7a75bc2a9144a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7373101ea645a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2a35ca1324406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c816c1f6374df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f198d54ef8436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da453ab0de430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933fa762f84e9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b2755e68124d7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9e135f38764ce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61107fe052489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2277f4717c4f3b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b0f83c016b44c7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f3de1c8ea240f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0572c0b8944e1f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1762ef118a4eb3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b94b0f844447d3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126a4065964ab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e1c08be818456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598669b81045e2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9837b94ab5474a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f9ae3717c64a0a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d18377956740ff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c5dd77eb74458f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24060e8c19435d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86cae5943041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01 Cover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02 Cover Gradi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>
  <p:cSld name="03 Agenda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>
  <p:cSld name="04 Section Divid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>
  <p:cSld name="05 Executive Summary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06 Key Messag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>
  <p:cSld name="07 KPI Overview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>
  <p:cSld name="08 Financial Dashboard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>
  <p:cSld name="09 Trend Over Tim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>
  <p:cSld name="10 Plan vs Actual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>
  <p:cSld name="11 Composition &amp; Allocatio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>
  <p:cSld name="12 Financial Data Tab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>
  <p:cSld name="13 Product Compariso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>
  <p:cSld name="14 CX VOC Dashboard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>
  <p:cSld name="15 Customer Journey Funnel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>
  <p:cSld name="16 Problem Evidence Solution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8.xml><?xml version="1.0" encoding="utf-8"?>
<p:sldLayout xmlns:p="http://schemas.openxmlformats.org/presentationml/2006/main">
  <p:cSld name="17 Banking Process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>
  <p:cSld name="18 Risk Matrix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0.xml><?xml version="1.0" encoding="utf-8"?>
<p:sldLayout xmlns:p="http://schemas.openxmlformats.org/presentationml/2006/main">
  <p:cSld name="19 Roadmap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1.xml><?xml version="1.0" encoding="utf-8"?>
<p:sldLayout xmlns:p="http://schemas.openxmlformats.org/presentationml/2006/main">
  <p:cSld name="20 Product UI Showcas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2.xml><?xml version="1.0" encoding="utf-8"?>
<p:sldLayout xmlns:p="http://schemas.openxmlformats.org/presentationml/2006/main">
  <p:cSld name="21 Case Study Overview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>
  <p:cSld name="22 Closing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4.xml><?xml version="1.0" encoding="utf-8"?>
<p:sldLayout xmlns:p="http://schemas.openxmlformats.org/presentationml/2006/main">
  <p:cSld name="23 VOC Verbatim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>
  <p:cSld name="24 Data Insight Spli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6.xml><?xml version="1.0" encoding="utf-8"?>
<p:sldLayout xmlns:p="http://schemas.openxmlformats.org/presentationml/2006/main">
  <p:cSld name="25 Balance Sheet Snapsho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7.xml><?xml version="1.0" encoding="utf-8"?>
<p:sldLayout xmlns:p="http://schemas.openxmlformats.org/presentationml/2006/main">
  <p:cSld name="26 P&amp;L Bridg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8.xml><?xml version="1.0" encoding="utf-8"?>
<p:sldLayout xmlns:p="http://schemas.openxmlformats.org/presentationml/2006/main">
  <p:cSld name="27 Cash Flow Overview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9.xml><?xml version="1.0" encoding="utf-8"?>
<p:sldLayout xmlns:p="http://schemas.openxmlformats.org/presentationml/2006/main">
  <p:cSld name="28 Segment Performanc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0.xml><?xml version="1.0" encoding="utf-8"?>
<p:sldLayout xmlns:p="http://schemas.openxmlformats.org/presentationml/2006/main">
  <p:cSld name="29 Region Performanc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>
  <p:cSld name="30 CIB Client Portfoli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2.xml><?xml version="1.0" encoding="utf-8"?>
<p:sldLayout xmlns:p="http://schemas.openxmlformats.org/presentationml/2006/main">
  <p:cSld name="31 Credit Quality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>
  <p:cSld name="32 Collections Trend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4.xml><?xml version="1.0" encoding="utf-8"?>
<p:sldLayout xmlns:p="http://schemas.openxmlformats.org/presentationml/2006/main">
  <p:cSld name="33 SLA Dashboard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5.xml><?xml version="1.0" encoding="utf-8"?>
<p:sldLayout xmlns:p="http://schemas.openxmlformats.org/presentationml/2006/main">
  <p:cSld name="34 Incident Dashboard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6.xml><?xml version="1.0" encoding="utf-8"?>
<p:sldLayout xmlns:p="http://schemas.openxmlformats.org/presentationml/2006/main">
  <p:cSld name="35 Root Cause Analysis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7.xml><?xml version="1.0" encoding="utf-8"?>
<p:sldLayout xmlns:p="http://schemas.openxmlformats.org/presentationml/2006/main">
  <p:cSld name="36 Controls Complianc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8.xml><?xml version="1.0" encoding="utf-8"?>
<p:sldLayout xmlns:p="http://schemas.openxmlformats.org/presentationml/2006/main">
  <p:cSld name="37 Decision Matrix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9.xml><?xml version="1.0" encoding="utf-8"?>
<p:sldLayout xmlns:p="http://schemas.openxmlformats.org/presentationml/2006/main">
  <p:cSld name="38 Scenario Analysis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0.xml><?xml version="1.0" encoding="utf-8"?>
<p:sldLayout xmlns:p="http://schemas.openxmlformats.org/presentationml/2006/main">
  <p:cSld name="39 Project Status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1.xml><?xml version="1.0" encoding="utf-8"?>
<p:sldLayout xmlns:p="http://schemas.openxmlformats.org/presentationml/2006/main">
  <p:cSld name="40 Action Track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2.xml><?xml version="1.0" encoding="utf-8"?>
<p:sldLayout xmlns:p="http://schemas.openxmlformats.org/presentationml/2006/main">
  <p:cSld name="41 Usage Gu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3.xml><?xml version="1.0" encoding="utf-8"?>
<p:sldLayout xmlns:p="http://schemas.openxmlformats.org/presentationml/2006/main">
  <p:cSld name="42 Layout Library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7afa9c18474a59" /><Relationship Type="http://schemas.openxmlformats.org/officeDocument/2006/relationships/slideLayout" Target="/ppt/slideLayouts/slideLayout1.xml" Id="R41872abbad81494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5a6beb220414674" /><Relationship Type="http://schemas.openxmlformats.org/officeDocument/2006/relationships/slideLayout" Target="/ppt/slideLayouts/slideLayout2.xml" Id="Rf999844e23b14e1a" /><Relationship Type="http://schemas.openxmlformats.org/officeDocument/2006/relationships/slideLayout" Target="/ppt/slideLayouts/slideLayout3.xml" Id="R41633d31f6e3460a" /><Relationship Type="http://schemas.openxmlformats.org/officeDocument/2006/relationships/slideLayout" Target="/ppt/slideLayouts/slideLayout4.xml" Id="Rfe1f4fbfa4f146ef" /><Relationship Type="http://schemas.openxmlformats.org/officeDocument/2006/relationships/slideLayout" Target="/ppt/slideLayouts/slideLayout5.xml" Id="R2485a86e98dc4a1a" /><Relationship Type="http://schemas.openxmlformats.org/officeDocument/2006/relationships/slideLayout" Target="/ppt/slideLayouts/slideLayout6.xml" Id="Rae3dfd213e03462d" /><Relationship Type="http://schemas.openxmlformats.org/officeDocument/2006/relationships/slideLayout" Target="/ppt/slideLayouts/slideLayout7.xml" Id="R64e174ff197c4c5a" /><Relationship Type="http://schemas.openxmlformats.org/officeDocument/2006/relationships/slideLayout" Target="/ppt/slideLayouts/slideLayout8.xml" Id="R1a9a513ebd004fc0" /><Relationship Type="http://schemas.openxmlformats.org/officeDocument/2006/relationships/slideLayout" Target="/ppt/slideLayouts/slideLayout9.xml" Id="R8e26d0a2ab194a69" /><Relationship Type="http://schemas.openxmlformats.org/officeDocument/2006/relationships/slideLayout" Target="/ppt/slideLayouts/slideLayout10.xml" Id="R3b9263b4e8324dff" /><Relationship Type="http://schemas.openxmlformats.org/officeDocument/2006/relationships/slideLayout" Target="/ppt/slideLayouts/slideLayout11.xml" Id="Rc85d68783f8e4721" /><Relationship Type="http://schemas.openxmlformats.org/officeDocument/2006/relationships/slideLayout" Target="/ppt/slideLayouts/slideLayout12.xml" Id="R867e96a283684d9a" /><Relationship Type="http://schemas.openxmlformats.org/officeDocument/2006/relationships/slideLayout" Target="/ppt/slideLayouts/slideLayout13.xml" Id="R82f7c250cb0348b3" /><Relationship Type="http://schemas.openxmlformats.org/officeDocument/2006/relationships/slideLayout" Target="/ppt/slideLayouts/slideLayout14.xml" Id="R6a3037b8b56a4139" /><Relationship Type="http://schemas.openxmlformats.org/officeDocument/2006/relationships/slideLayout" Target="/ppt/slideLayouts/slideLayout15.xml" Id="Redee634332de4782" /><Relationship Type="http://schemas.openxmlformats.org/officeDocument/2006/relationships/slideLayout" Target="/ppt/slideLayouts/slideLayout16.xml" Id="Ree094d6c3666498a" /><Relationship Type="http://schemas.openxmlformats.org/officeDocument/2006/relationships/slideLayout" Target="/ppt/slideLayouts/slideLayout17.xml" Id="R4ac14b5ae72d4b88" /><Relationship Type="http://schemas.openxmlformats.org/officeDocument/2006/relationships/slideLayout" Target="/ppt/slideLayouts/slideLayout18.xml" Id="Re2f380a6ca2a494b" /><Relationship Type="http://schemas.openxmlformats.org/officeDocument/2006/relationships/slideLayout" Target="/ppt/slideLayouts/slideLayout19.xml" Id="R7a82d380707f4a12" /><Relationship Type="http://schemas.openxmlformats.org/officeDocument/2006/relationships/slideLayout" Target="/ppt/slideLayouts/slideLayout20.xml" Id="R310df156894f4b54" /><Relationship Type="http://schemas.openxmlformats.org/officeDocument/2006/relationships/slideLayout" Target="/ppt/slideLayouts/slideLayout21.xml" Id="R843683197b044d67" /><Relationship Type="http://schemas.openxmlformats.org/officeDocument/2006/relationships/slideLayout" Target="/ppt/slideLayouts/slideLayout22.xml" Id="Rb5c479dfd7e44a4b" /><Relationship Type="http://schemas.openxmlformats.org/officeDocument/2006/relationships/slideLayout" Target="/ppt/slideLayouts/slideLayout23.xml" Id="Rbd8e60bec24b4142" /><Relationship Type="http://schemas.openxmlformats.org/officeDocument/2006/relationships/slideLayout" Target="/ppt/slideLayouts/slideLayout24.xml" Id="R4cb2e3358d8646c6" /><Relationship Type="http://schemas.openxmlformats.org/officeDocument/2006/relationships/slideLayout" Target="/ppt/slideLayouts/slideLayout25.xml" Id="R1fe5fc18c5b8460e" /><Relationship Type="http://schemas.openxmlformats.org/officeDocument/2006/relationships/slideLayout" Target="/ppt/slideLayouts/slideLayout26.xml" Id="R5abf3416316e4f9f" /><Relationship Type="http://schemas.openxmlformats.org/officeDocument/2006/relationships/slideLayout" Target="/ppt/slideLayouts/slideLayout27.xml" Id="Rdfc6d71067634239" /><Relationship Type="http://schemas.openxmlformats.org/officeDocument/2006/relationships/slideLayout" Target="/ppt/slideLayouts/slideLayout28.xml" Id="R4399699c40a34c53" /><Relationship Type="http://schemas.openxmlformats.org/officeDocument/2006/relationships/slideLayout" Target="/ppt/slideLayouts/slideLayout29.xml" Id="R4827ff2b22e1410a" /><Relationship Type="http://schemas.openxmlformats.org/officeDocument/2006/relationships/slideLayout" Target="/ppt/slideLayouts/slideLayout30.xml" Id="Ra9c43dd721734a65" /><Relationship Type="http://schemas.openxmlformats.org/officeDocument/2006/relationships/slideLayout" Target="/ppt/slideLayouts/slideLayout31.xml" Id="R755e4f717e76417d" /><Relationship Type="http://schemas.openxmlformats.org/officeDocument/2006/relationships/slideLayout" Target="/ppt/slideLayouts/slideLayout32.xml" Id="R176fdb723fd8496a" /><Relationship Type="http://schemas.openxmlformats.org/officeDocument/2006/relationships/slideLayout" Target="/ppt/slideLayouts/slideLayout33.xml" Id="R691b4b3b7e424c1c" /><Relationship Type="http://schemas.openxmlformats.org/officeDocument/2006/relationships/slideLayout" Target="/ppt/slideLayouts/slideLayout34.xml" Id="R4df20d230fa142e3" /><Relationship Type="http://schemas.openxmlformats.org/officeDocument/2006/relationships/slideLayout" Target="/ppt/slideLayouts/slideLayout35.xml" Id="R2dde63e7304b4b6d" /><Relationship Type="http://schemas.openxmlformats.org/officeDocument/2006/relationships/slideLayout" Target="/ppt/slideLayouts/slideLayout36.xml" Id="R1adb2da25b9544c0" /><Relationship Type="http://schemas.openxmlformats.org/officeDocument/2006/relationships/slideLayout" Target="/ppt/slideLayouts/slideLayout37.xml" Id="Rd94121e485d94d4f" /><Relationship Type="http://schemas.openxmlformats.org/officeDocument/2006/relationships/slideLayout" Target="/ppt/slideLayouts/slideLayout38.xml" Id="R82858d58f68f43ad" /><Relationship Type="http://schemas.openxmlformats.org/officeDocument/2006/relationships/slideLayout" Target="/ppt/slideLayouts/slideLayout39.xml" Id="Ra9e2a0e8110c47a5" /><Relationship Type="http://schemas.openxmlformats.org/officeDocument/2006/relationships/slideLayout" Target="/ppt/slideLayouts/slideLayout40.xml" Id="R3ec856e8590247f9" /><Relationship Type="http://schemas.openxmlformats.org/officeDocument/2006/relationships/slideLayout" Target="/ppt/slideLayouts/slideLayout41.xml" Id="Rfb9d8137041444bd" /><Relationship Type="http://schemas.openxmlformats.org/officeDocument/2006/relationships/slideLayout" Target="/ppt/slideLayouts/slideLayout42.xml" Id="R638634641c814c3b" /><Relationship Type="http://schemas.openxmlformats.org/officeDocument/2006/relationships/slideLayout" Target="/ppt/slideLayouts/slideLayout43.xml" Id="Rf5fdd763fa474e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872abbad8149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B Brand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f999844e23b14e1a"/>
    <p:sldLayoutId xmlns:r="http://schemas.openxmlformats.org/officeDocument/2006/relationships" id="2147483652" r:id="R41633d31f6e3460a"/>
    <p:sldLayoutId xmlns:r="http://schemas.openxmlformats.org/officeDocument/2006/relationships" id="2147483653" r:id="Rfe1f4fbfa4f146ef"/>
    <p:sldLayoutId xmlns:r="http://schemas.openxmlformats.org/officeDocument/2006/relationships" id="2147483654" r:id="R2485a86e98dc4a1a"/>
    <p:sldLayoutId xmlns:r="http://schemas.openxmlformats.org/officeDocument/2006/relationships" id="2147483655" r:id="Rae3dfd213e03462d"/>
    <p:sldLayoutId xmlns:r="http://schemas.openxmlformats.org/officeDocument/2006/relationships" id="2147483656" r:id="R64e174ff197c4c5a"/>
    <p:sldLayoutId xmlns:r="http://schemas.openxmlformats.org/officeDocument/2006/relationships" id="2147483657" r:id="R1a9a513ebd004fc0"/>
    <p:sldLayoutId xmlns:r="http://schemas.openxmlformats.org/officeDocument/2006/relationships" id="2147483658" r:id="R8e26d0a2ab194a69"/>
    <p:sldLayoutId xmlns:r="http://schemas.openxmlformats.org/officeDocument/2006/relationships" id="2147483659" r:id="R3b9263b4e8324dff"/>
    <p:sldLayoutId xmlns:r="http://schemas.openxmlformats.org/officeDocument/2006/relationships" id="2147483660" r:id="Rc85d68783f8e4721"/>
    <p:sldLayoutId xmlns:r="http://schemas.openxmlformats.org/officeDocument/2006/relationships" id="2147483661" r:id="R867e96a283684d9a"/>
    <p:sldLayoutId xmlns:r="http://schemas.openxmlformats.org/officeDocument/2006/relationships" id="2147483662" r:id="R82f7c250cb0348b3"/>
    <p:sldLayoutId xmlns:r="http://schemas.openxmlformats.org/officeDocument/2006/relationships" id="2147483663" r:id="R6a3037b8b56a4139"/>
    <p:sldLayoutId xmlns:r="http://schemas.openxmlformats.org/officeDocument/2006/relationships" id="2147483664" r:id="Redee634332de4782"/>
    <p:sldLayoutId xmlns:r="http://schemas.openxmlformats.org/officeDocument/2006/relationships" id="2147483665" r:id="Ree094d6c3666498a"/>
    <p:sldLayoutId xmlns:r="http://schemas.openxmlformats.org/officeDocument/2006/relationships" id="2147483666" r:id="R4ac14b5ae72d4b88"/>
    <p:sldLayoutId xmlns:r="http://schemas.openxmlformats.org/officeDocument/2006/relationships" id="2147483667" r:id="Re2f380a6ca2a494b"/>
    <p:sldLayoutId xmlns:r="http://schemas.openxmlformats.org/officeDocument/2006/relationships" id="2147483668" r:id="R7a82d380707f4a12"/>
    <p:sldLayoutId xmlns:r="http://schemas.openxmlformats.org/officeDocument/2006/relationships" id="2147483669" r:id="R310df156894f4b54"/>
    <p:sldLayoutId xmlns:r="http://schemas.openxmlformats.org/officeDocument/2006/relationships" id="2147483670" r:id="R843683197b044d67"/>
    <p:sldLayoutId xmlns:r="http://schemas.openxmlformats.org/officeDocument/2006/relationships" id="2147483671" r:id="Rb5c479dfd7e44a4b"/>
    <p:sldLayoutId xmlns:r="http://schemas.openxmlformats.org/officeDocument/2006/relationships" id="2147483672" r:id="Rbd8e60bec24b4142"/>
    <p:sldLayoutId xmlns:r="http://schemas.openxmlformats.org/officeDocument/2006/relationships" id="2147483673" r:id="R4cb2e3358d8646c6"/>
    <p:sldLayoutId xmlns:r="http://schemas.openxmlformats.org/officeDocument/2006/relationships" id="2147483674" r:id="R1fe5fc18c5b8460e"/>
    <p:sldLayoutId xmlns:r="http://schemas.openxmlformats.org/officeDocument/2006/relationships" id="2147483675" r:id="R5abf3416316e4f9f"/>
    <p:sldLayoutId xmlns:r="http://schemas.openxmlformats.org/officeDocument/2006/relationships" id="2147483676" r:id="Rdfc6d71067634239"/>
    <p:sldLayoutId xmlns:r="http://schemas.openxmlformats.org/officeDocument/2006/relationships" id="2147483677" r:id="R4399699c40a34c53"/>
    <p:sldLayoutId xmlns:r="http://schemas.openxmlformats.org/officeDocument/2006/relationships" id="2147483678" r:id="R4827ff2b22e1410a"/>
    <p:sldLayoutId xmlns:r="http://schemas.openxmlformats.org/officeDocument/2006/relationships" id="2147483679" r:id="Ra9c43dd721734a65"/>
    <p:sldLayoutId xmlns:r="http://schemas.openxmlformats.org/officeDocument/2006/relationships" id="2147483680" r:id="R755e4f717e76417d"/>
    <p:sldLayoutId xmlns:r="http://schemas.openxmlformats.org/officeDocument/2006/relationships" id="2147483681" r:id="R176fdb723fd8496a"/>
    <p:sldLayoutId xmlns:r="http://schemas.openxmlformats.org/officeDocument/2006/relationships" id="2147483682" r:id="R691b4b3b7e424c1c"/>
    <p:sldLayoutId xmlns:r="http://schemas.openxmlformats.org/officeDocument/2006/relationships" id="2147483683" r:id="R4df20d230fa142e3"/>
    <p:sldLayoutId xmlns:r="http://schemas.openxmlformats.org/officeDocument/2006/relationships" id="2147483684" r:id="R2dde63e7304b4b6d"/>
    <p:sldLayoutId xmlns:r="http://schemas.openxmlformats.org/officeDocument/2006/relationships" id="2147483685" r:id="R1adb2da25b9544c0"/>
    <p:sldLayoutId xmlns:r="http://schemas.openxmlformats.org/officeDocument/2006/relationships" id="2147483686" r:id="Rd94121e485d94d4f"/>
    <p:sldLayoutId xmlns:r="http://schemas.openxmlformats.org/officeDocument/2006/relationships" id="2147483687" r:id="R82858d58f68f43ad"/>
    <p:sldLayoutId xmlns:r="http://schemas.openxmlformats.org/officeDocument/2006/relationships" id="2147483688" r:id="Ra9e2a0e8110c47a5"/>
    <p:sldLayoutId xmlns:r="http://schemas.openxmlformats.org/officeDocument/2006/relationships" id="2147483689" r:id="R3ec856e8590247f9"/>
    <p:sldLayoutId xmlns:r="http://schemas.openxmlformats.org/officeDocument/2006/relationships" id="2147483690" r:id="Rfb9d8137041444bd"/>
    <p:sldLayoutId xmlns:r="http://schemas.openxmlformats.org/officeDocument/2006/relationships" id="2147483691" r:id="R638634641c814c3b"/>
    <p:sldLayoutId xmlns:r="http://schemas.openxmlformats.org/officeDocument/2006/relationships" id="2147483692" r:id="Rf5fdd763fa474eac"/>
  </p:sldLayoutIdLst>
</p:sldMaster>
</file>

<file path=ppt/slideMasters/theme/theme2.xml><?xml version="1.0" encoding="utf-8"?>
<a:theme xmlns:a="http://schemas.openxmlformats.org/drawingml/2006/main" name="ChatGPT">
  <a:themeElements>
    <a:clrScheme name="MB Finance Banking">
      <a:dk1>
        <a:srgbClr val="000000"/>
      </a:dk1>
      <a:lt1>
        <a:srgbClr val="FFFFFF"/>
      </a:lt1>
      <a:dk2>
        <a:srgbClr val="081235"/>
      </a:dk2>
      <a:lt2>
        <a:srgbClr val="E9ECFF"/>
      </a:lt2>
      <a:accent1>
        <a:srgbClr val="171EDB"/>
      </a:accent1>
      <a:accent2>
        <a:srgbClr val="F50912"/>
      </a:accent2>
      <a:accent3>
        <a:srgbClr val="081235"/>
      </a:accent3>
      <a:accent4>
        <a:srgbClr val="8A91A8"/>
      </a:accent4>
      <a:accent5>
        <a:srgbClr val="E9ECFF"/>
      </a:accent5>
      <a:accent6>
        <a:srgbClr val="0E9F6E"/>
      </a:accent6>
      <a:hlink>
        <a:srgbClr val="171EDB"/>
      </a:hlink>
      <a:folHlink>
        <a:srgbClr val="F5091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B Finance Bank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MB Finance Banking">
      <a:dk1>
        <a:srgbClr val="000000"/>
      </a:dk1>
      <a:lt1>
        <a:srgbClr val="FFFFFF"/>
      </a:lt1>
      <a:dk2>
        <a:srgbClr val="081235"/>
      </a:dk2>
      <a:lt2>
        <a:srgbClr val="E9ECFF"/>
      </a:lt2>
      <a:accent1>
        <a:srgbClr val="171EDB"/>
      </a:accent1>
      <a:accent2>
        <a:srgbClr val="F50912"/>
      </a:accent2>
      <a:accent3>
        <a:srgbClr val="081235"/>
      </a:accent3>
      <a:accent4>
        <a:srgbClr val="8A91A8"/>
      </a:accent4>
      <a:accent5>
        <a:srgbClr val="E9ECFF"/>
      </a:accent5>
      <a:accent6>
        <a:srgbClr val="0E9F6E"/>
      </a:accent6>
      <a:hlink>
        <a:srgbClr val="171EDB"/>
      </a:hlink>
      <a:folHlink>
        <a:srgbClr val="F5091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B Finance Bank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b9b8bdb2c44e16" /><Relationship Type="http://schemas.openxmlformats.org/officeDocument/2006/relationships/image" Target="/ppt/media/image.png" Id="Redfe25a3b2bd4d3e" /><Relationship Type="http://schemas.openxmlformats.org/officeDocument/2006/relationships/notesSlide" Target="/ppt/notesSlides/notesSlide1.xml" Id="R43b541dc62834c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67edff35fb480d" /><Relationship Type="http://schemas.openxmlformats.org/officeDocument/2006/relationships/image" Target="/ppt/media/image2.png" Id="R5dc03d4df5104c5b" /><Relationship Type="http://schemas.openxmlformats.org/officeDocument/2006/relationships/notesSlide" Target="/ppt/notesSlides/notesSlide2.xml" Id="Rabf070d8f03642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0f088e989c4432c" /><Relationship Type="http://schemas.openxmlformats.org/officeDocument/2006/relationships/image" Target="/ppt/media/image3.png" Id="Rbdccb5744e0d445c" /><Relationship Type="http://schemas.openxmlformats.org/officeDocument/2006/relationships/notesSlide" Target="/ppt/notesSlides/notesSlide3.xml" Id="R3fe4a79b32be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2187b53fba4557" /><Relationship Type="http://schemas.openxmlformats.org/officeDocument/2006/relationships/image" Target="/ppt/media/image4.png" Id="R8cb2b3df7ec34ec5" /><Relationship Type="http://schemas.openxmlformats.org/officeDocument/2006/relationships/notesSlide" Target="/ppt/notesSlides/notesSlide4.xml" Id="Rd6bb2149e3ba44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162d042991490a" /><Relationship Type="http://schemas.openxmlformats.org/officeDocument/2006/relationships/image" Target="/ppt/media/image5.png" Id="R9a43e49e5b31437b" /><Relationship Type="http://schemas.openxmlformats.org/officeDocument/2006/relationships/notesSlide" Target="/ppt/notesSlides/notesSlide5.xml" Id="R1e9daf36bdd94f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c781bddac8431f" /><Relationship Type="http://schemas.openxmlformats.org/officeDocument/2006/relationships/image" Target="/ppt/media/image6.png" Id="Rc4f0638014b64955" /><Relationship Type="http://schemas.openxmlformats.org/officeDocument/2006/relationships/notesSlide" Target="/ppt/notesSlides/notesSlide6.xml" Id="R1dee1565dafd4c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462198b5f6d4088" /><Relationship Type="http://schemas.openxmlformats.org/officeDocument/2006/relationships/image" Target="/ppt/media/image7.png" Id="Rbe68d63b677f45bf" /><Relationship Type="http://schemas.openxmlformats.org/officeDocument/2006/relationships/notesSlide" Target="/ppt/notesSlides/notesSlide7.xml" Id="R6b23be7bca9043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1bdaca4cc8e48e1" /><Relationship Type="http://schemas.openxmlformats.org/officeDocument/2006/relationships/image" Target="/ppt/media/image8.png" Id="R7cb11d9615404abf" /><Relationship Type="http://schemas.openxmlformats.org/officeDocument/2006/relationships/chart" Target="/ppt/slides/charts/chart1.xml" Id="R31ff50313ef34dea" /><Relationship Type="http://schemas.openxmlformats.org/officeDocument/2006/relationships/notesSlide" Target="/ppt/notesSlides/notesSlide8.xml" Id="Ra5a25630089e4b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c86e82f763a410a" /><Relationship Type="http://schemas.openxmlformats.org/officeDocument/2006/relationships/image" Target="/ppt/media/image9.png" Id="R74cfdc8204b6437b" /><Relationship Type="http://schemas.openxmlformats.org/officeDocument/2006/relationships/chart" Target="/ppt/slides/charts/chart2.xml" Id="R6398fce8ec7c40c0" /><Relationship Type="http://schemas.openxmlformats.org/officeDocument/2006/relationships/notesSlide" Target="/ppt/notesSlides/notesSlide9.xml" Id="Rc7dc0d0a9ef540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b62d675714b4f0b" /><Relationship Type="http://schemas.openxmlformats.org/officeDocument/2006/relationships/image" Target="/ppt/media/image10.png" Id="R68a447477e104857" /><Relationship Type="http://schemas.openxmlformats.org/officeDocument/2006/relationships/chart" Target="/ppt/slides/charts/chart3.xml" Id="R2d9da9446f364d9d" /><Relationship Type="http://schemas.openxmlformats.org/officeDocument/2006/relationships/notesSlide" Target="/ppt/notesSlides/notesSlide10.xml" Id="R8e9cff3a45154b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579e47c9b7049d0" /><Relationship Type="http://schemas.openxmlformats.org/officeDocument/2006/relationships/image" Target="/ppt/media/image11.png" Id="R46319aa57e67477c" /><Relationship Type="http://schemas.openxmlformats.org/officeDocument/2006/relationships/chart" Target="/ppt/slides/charts/chart4.xml" Id="Rf9d0a3a871d54331" /><Relationship Type="http://schemas.openxmlformats.org/officeDocument/2006/relationships/notesSlide" Target="/ppt/notesSlides/notesSlide11.xml" Id="R909f36b5838e4d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fdb50f64d3b4290" /><Relationship Type="http://schemas.openxmlformats.org/officeDocument/2006/relationships/image" Target="/ppt/media/image12.png" Id="Rdbed55e5eb594926" /><Relationship Type="http://schemas.openxmlformats.org/officeDocument/2006/relationships/notesSlide" Target="/ppt/notesSlides/notesSlide12.xml" Id="R7346ec64cc0d4f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04835ba9c4740a9" /><Relationship Type="http://schemas.openxmlformats.org/officeDocument/2006/relationships/image" Target="/ppt/media/image13.png" Id="R1d67217490d94631" /><Relationship Type="http://schemas.openxmlformats.org/officeDocument/2006/relationships/notesSlide" Target="/ppt/notesSlides/notesSlide13.xml" Id="R40f5e736ad7842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0d57183373774a16" /><Relationship Type="http://schemas.openxmlformats.org/officeDocument/2006/relationships/image" Target="/ppt/media/image14.png" Id="R20146f7204584f77" /><Relationship Type="http://schemas.openxmlformats.org/officeDocument/2006/relationships/chart" Target="/ppt/slides/charts/chart5.xml" Id="Rcf2d2d5ce0544d4c" /><Relationship Type="http://schemas.openxmlformats.org/officeDocument/2006/relationships/chart" Target="/ppt/slides/charts/chart6.xml" Id="Re1e4849413ab47ee" /><Relationship Type="http://schemas.openxmlformats.org/officeDocument/2006/relationships/notesSlide" Target="/ppt/notesSlides/notesSlide14.xml" Id="R902a582bc4954e5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25cc7c291d54d67" /><Relationship Type="http://schemas.openxmlformats.org/officeDocument/2006/relationships/image" Target="/ppt/media/image15.png" Id="Rb90b9e2fb1144d1b" /><Relationship Type="http://schemas.openxmlformats.org/officeDocument/2006/relationships/notesSlide" Target="/ppt/notesSlides/notesSlide15.xml" Id="Recbd8339647b4b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2c0f6a339324f85" /><Relationship Type="http://schemas.openxmlformats.org/officeDocument/2006/relationships/image" Target="/ppt/media/image16.png" Id="Rbb274afe48bc4dc4" /><Relationship Type="http://schemas.openxmlformats.org/officeDocument/2006/relationships/notesSlide" Target="/ppt/notesSlides/notesSlide16.xml" Id="R5a1fc074b7e247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fc6db59067b48d0" /><Relationship Type="http://schemas.openxmlformats.org/officeDocument/2006/relationships/image" Target="/ppt/media/image17.png" Id="R817f7048e6e64d8d" /><Relationship Type="http://schemas.openxmlformats.org/officeDocument/2006/relationships/notesSlide" Target="/ppt/notesSlides/notesSlide17.xml" Id="Refd3500ac42d49c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c5478758348a4951" /><Relationship Type="http://schemas.openxmlformats.org/officeDocument/2006/relationships/image" Target="/ppt/media/image18.png" Id="Rc51bda35864b4aa5" /><Relationship Type="http://schemas.openxmlformats.org/officeDocument/2006/relationships/notesSlide" Target="/ppt/notesSlides/notesSlide18.xml" Id="R5c1dfbef837146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6edd24568e6b4b2c" /><Relationship Type="http://schemas.openxmlformats.org/officeDocument/2006/relationships/image" Target="/ppt/media/image19.png" Id="R18bd03d683904e06" /><Relationship Type="http://schemas.openxmlformats.org/officeDocument/2006/relationships/notesSlide" Target="/ppt/notesSlides/notesSlide19.xml" Id="R17888fa769dd48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362ccfed793f48cf" /><Relationship Type="http://schemas.openxmlformats.org/officeDocument/2006/relationships/image" Target="/ppt/media/image20.png" Id="R44a225aed1ad4de9" /><Relationship Type="http://schemas.openxmlformats.org/officeDocument/2006/relationships/notesSlide" Target="/ppt/notesSlides/notesSlide20.xml" Id="R4d330803cdae4a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dadffec898bb456d" /><Relationship Type="http://schemas.openxmlformats.org/officeDocument/2006/relationships/image" Target="/ppt/media/image21.png" Id="Rc3813607bcf5443b" /><Relationship Type="http://schemas.openxmlformats.org/officeDocument/2006/relationships/notesSlide" Target="/ppt/notesSlides/notesSlide21.xml" Id="R0af9d42ed00547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463bf1cbae5d4028" /><Relationship Type="http://schemas.openxmlformats.org/officeDocument/2006/relationships/image" Target="/ppt/media/image22.png" Id="R86043cfce63f4ed9" /><Relationship Type="http://schemas.openxmlformats.org/officeDocument/2006/relationships/notesSlide" Target="/ppt/notesSlides/notesSlide22.xml" Id="Rb6b6be13684040b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89539de58c684453" /><Relationship Type="http://schemas.openxmlformats.org/officeDocument/2006/relationships/image" Target="/ppt/media/image23.png" Id="Rccc8c3dc7ea24c48" /><Relationship Type="http://schemas.openxmlformats.org/officeDocument/2006/relationships/notesSlide" Target="/ppt/notesSlides/notesSlide23.xml" Id="R70b8da3e12c04f8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a0fe22bcd69b4f38" /><Relationship Type="http://schemas.openxmlformats.org/officeDocument/2006/relationships/image" Target="/ppt/media/image24.png" Id="Rb44d22ba2cd8450b" /><Relationship Type="http://schemas.openxmlformats.org/officeDocument/2006/relationships/chart" Target="/ppt/slides/charts/chart7.xml" Id="R25ef9cae7c364f86" /><Relationship Type="http://schemas.openxmlformats.org/officeDocument/2006/relationships/notesSlide" Target="/ppt/notesSlides/notesSlide24.xml" Id="R3a517f685ce746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f48db586b9914160" /><Relationship Type="http://schemas.openxmlformats.org/officeDocument/2006/relationships/image" Target="/ppt/media/image25.png" Id="R6153e2251fdf4d30" /><Relationship Type="http://schemas.openxmlformats.org/officeDocument/2006/relationships/notesSlide" Target="/ppt/notesSlides/notesSlide25.xml" Id="R90e941f69e524cc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56dd388bc33a4f52" /><Relationship Type="http://schemas.openxmlformats.org/officeDocument/2006/relationships/image" Target="/ppt/media/image26.png" Id="R5b7c84bd6ff64e67" /><Relationship Type="http://schemas.openxmlformats.org/officeDocument/2006/relationships/notesSlide" Target="/ppt/notesSlides/notesSlide26.xml" Id="R217e26359a94494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6af572a5035b4ff9" /><Relationship Type="http://schemas.openxmlformats.org/officeDocument/2006/relationships/image" Target="/ppt/media/image27.png" Id="Ref512497c4e24f6c" /><Relationship Type="http://schemas.openxmlformats.org/officeDocument/2006/relationships/notesSlide" Target="/ppt/notesSlides/notesSlide27.xml" Id="R09be4b7c8d5b4f6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84a005ea72f24fde" /><Relationship Type="http://schemas.openxmlformats.org/officeDocument/2006/relationships/image" Target="/ppt/media/image28.png" Id="Rf5b226d776d44416" /><Relationship Type="http://schemas.openxmlformats.org/officeDocument/2006/relationships/chart" Target="/ppt/slides/charts/chart8.xml" Id="R41d9db76c654481e" /><Relationship Type="http://schemas.openxmlformats.org/officeDocument/2006/relationships/notesSlide" Target="/ppt/notesSlides/notesSlide28.xml" Id="R5b8f62650f4f445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e51c2291cff34707" /><Relationship Type="http://schemas.openxmlformats.org/officeDocument/2006/relationships/image" Target="/ppt/media/image29.png" Id="R46a28cd5d9b941ea" /><Relationship Type="http://schemas.openxmlformats.org/officeDocument/2006/relationships/notesSlide" Target="/ppt/notesSlides/notesSlide29.xml" Id="R5c133aaf1c0e461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1.xml" Id="R5f26e3bea55f47ac" /><Relationship Type="http://schemas.openxmlformats.org/officeDocument/2006/relationships/image" Target="/ppt/media/image30.png" Id="R9dcf5abb9c0748a8" /><Relationship Type="http://schemas.openxmlformats.org/officeDocument/2006/relationships/notesSlide" Target="/ppt/notesSlides/notesSlide30.xml" Id="Rdb6182707aba4dd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2.xml" Id="Rf2c0b7d6314a4728" /><Relationship Type="http://schemas.openxmlformats.org/officeDocument/2006/relationships/image" Target="/ppt/media/image31.png" Id="R36230bac520d4b39" /><Relationship Type="http://schemas.openxmlformats.org/officeDocument/2006/relationships/notesSlide" Target="/ppt/notesSlides/notesSlide31.xml" Id="R22cc3157080e464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08ac3dc6ab3f408d" /><Relationship Type="http://schemas.openxmlformats.org/officeDocument/2006/relationships/image" Target="/ppt/media/image32.png" Id="R930ef75cc8c9464c" /><Relationship Type="http://schemas.openxmlformats.org/officeDocument/2006/relationships/chart" Target="/ppt/slides/charts/chart9.xml" Id="Re453103c69c640b1" /><Relationship Type="http://schemas.openxmlformats.org/officeDocument/2006/relationships/notesSlide" Target="/ppt/notesSlides/notesSlide32.xml" Id="R4ac09dcb99ec486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4.xml" Id="R6f826952e1964527" /><Relationship Type="http://schemas.openxmlformats.org/officeDocument/2006/relationships/image" Target="/ppt/media/image33.png" Id="R893d9cbc32644400" /><Relationship Type="http://schemas.openxmlformats.org/officeDocument/2006/relationships/chart" Target="/ppt/slides/charts/chart10.xml" Id="R6127618a08b3472e" /><Relationship Type="http://schemas.openxmlformats.org/officeDocument/2006/relationships/notesSlide" Target="/ppt/notesSlides/notesSlide33.xml" Id="R838855903986475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a8281a8fa4214784" /><Relationship Type="http://schemas.openxmlformats.org/officeDocument/2006/relationships/image" Target="/ppt/media/image34.png" Id="Rd5155368eda54593" /><Relationship Type="http://schemas.openxmlformats.org/officeDocument/2006/relationships/notesSlide" Target="/ppt/notesSlides/notesSlide34.xml" Id="Refa46138ce894e6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6.xml" Id="R3528c8b16d404c15" /><Relationship Type="http://schemas.openxmlformats.org/officeDocument/2006/relationships/image" Target="/ppt/media/image35.png" Id="R14c09cf7e9624fbc" /><Relationship Type="http://schemas.openxmlformats.org/officeDocument/2006/relationships/notesSlide" Target="/ppt/notesSlides/notesSlide35.xml" Id="R36f3c1ed91c84f4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7.xml" Id="Rb8a4ec613989424d" /><Relationship Type="http://schemas.openxmlformats.org/officeDocument/2006/relationships/image" Target="/ppt/media/image36.png" Id="R901f80e4bf3c48ac" /><Relationship Type="http://schemas.openxmlformats.org/officeDocument/2006/relationships/chart" Target="/ppt/slides/charts/chart11.xml" Id="R0f61bea5757f488d" /><Relationship Type="http://schemas.openxmlformats.org/officeDocument/2006/relationships/notesSlide" Target="/ppt/notesSlides/notesSlide36.xml" Id="Rc76fa85905644fd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8.xml" Id="R314b9b9c55894b83" /><Relationship Type="http://schemas.openxmlformats.org/officeDocument/2006/relationships/image" Target="/ppt/media/image37.png" Id="R4091376e4959426c" /><Relationship Type="http://schemas.openxmlformats.org/officeDocument/2006/relationships/notesSlide" Target="/ppt/notesSlides/notesSlide37.xml" Id="R17600cadd9fa479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9.xml" Id="Rfa82e311368a4b5a" /><Relationship Type="http://schemas.openxmlformats.org/officeDocument/2006/relationships/image" Target="/ppt/media/image38.png" Id="R443802b11d27404d" /><Relationship Type="http://schemas.openxmlformats.org/officeDocument/2006/relationships/chart" Target="/ppt/slides/charts/chart12.xml" Id="R3d4b036c23b54d4b" /><Relationship Type="http://schemas.openxmlformats.org/officeDocument/2006/relationships/notesSlide" Target="/ppt/notesSlides/notesSlide38.xml" Id="R9874a94faee0485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0.xml" Id="R9e50c9271a674c34" /><Relationship Type="http://schemas.openxmlformats.org/officeDocument/2006/relationships/image" Target="/ppt/media/image39.png" Id="R301fa48ad55e4cd3" /><Relationship Type="http://schemas.openxmlformats.org/officeDocument/2006/relationships/notesSlide" Target="/ppt/notesSlides/notesSlide39.xml" Id="Rb8494372082e442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1.xml" Id="R6c89da52d5db4338" /><Relationship Type="http://schemas.openxmlformats.org/officeDocument/2006/relationships/image" Target="/ppt/media/image40.png" Id="Re3daede937954eed" /><Relationship Type="http://schemas.openxmlformats.org/officeDocument/2006/relationships/notesSlide" Target="/ppt/notesSlides/notesSlide40.xml" Id="R9c57c069ed71419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2.xml" Id="R5c549928516e49df" /><Relationship Type="http://schemas.openxmlformats.org/officeDocument/2006/relationships/image" Target="/ppt/media/image41.png" Id="R797170a1b20e4f7e" /><Relationship Type="http://schemas.openxmlformats.org/officeDocument/2006/relationships/notesSlide" Target="/ppt/notesSlides/notesSlide41.xml" Id="R02089aabd7df4fb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3.xml" Id="R5eefe1b7241e40ad" /><Relationship Type="http://schemas.openxmlformats.org/officeDocument/2006/relationships/image" Target="/ppt/media/image42.png" Id="R3b2bdc17e6234707" /><Relationship Type="http://schemas.openxmlformats.org/officeDocument/2006/relationships/image" Target="/ppt/media/image43.png" Id="R7be0e2e9dffd44d3" /><Relationship Type="http://schemas.openxmlformats.org/officeDocument/2006/relationships/image" Target="/ppt/media/image44.png" Id="Rde01dac3f0ba4c92" /><Relationship Type="http://schemas.openxmlformats.org/officeDocument/2006/relationships/image" Target="/ppt/media/image45.png" Id="R60624237b10e4848" /><Relationship Type="http://schemas.openxmlformats.org/officeDocument/2006/relationships/image" Target="/ppt/media/image46.png" Id="R2c47ff8e25a94e6b" /><Relationship Type="http://schemas.openxmlformats.org/officeDocument/2006/relationships/image" Target="/ppt/media/image47.png" Id="R8d7c1cd6b3314838" /><Relationship Type="http://schemas.openxmlformats.org/officeDocument/2006/relationships/image" Target="/ppt/media/image48.png" Id="R14653272fe444a45" /><Relationship Type="http://schemas.openxmlformats.org/officeDocument/2006/relationships/image" Target="/ppt/media/image49.png" Id="Rc2a8e3553bb84976" /><Relationship Type="http://schemas.openxmlformats.org/officeDocument/2006/relationships/image" Target="/ppt/media/image50.png" Id="R141c9c12dd5b45af" /><Relationship Type="http://schemas.openxmlformats.org/officeDocument/2006/relationships/image" Target="/ppt/media/image51.png" Id="R366580a08fbf45b3" /><Relationship Type="http://schemas.openxmlformats.org/officeDocument/2006/relationships/image" Target="/ppt/media/image52.png" Id="R3a852ddcc32e4c58" /><Relationship Type="http://schemas.openxmlformats.org/officeDocument/2006/relationships/image" Target="/ppt/media/image53.png" Id="R6a1be79d5347404c" /><Relationship Type="http://schemas.openxmlformats.org/officeDocument/2006/relationships/image" Target="/ppt/media/image54.png" Id="Rc27889d267c54f03" /><Relationship Type="http://schemas.openxmlformats.org/officeDocument/2006/relationships/image" Target="/ppt/media/image55.png" Id="R3b4eaccbd5284152" /><Relationship Type="http://schemas.openxmlformats.org/officeDocument/2006/relationships/image" Target="/ppt/media/image56.png" Id="R8a6e29616d8c4733" /><Relationship Type="http://schemas.openxmlformats.org/officeDocument/2006/relationships/image" Target="/ppt/media/image57.png" Id="R8022e16986bd4c71" /><Relationship Type="http://schemas.openxmlformats.org/officeDocument/2006/relationships/image" Target="/ppt/media/image58.png" Id="Rd9ffaf07b2454947" /><Relationship Type="http://schemas.openxmlformats.org/officeDocument/2006/relationships/image" Target="/ppt/media/image59.png" Id="R93b234c547a94b8f" /><Relationship Type="http://schemas.openxmlformats.org/officeDocument/2006/relationships/image" Target="/ppt/media/image60.png" Id="R1e7904e8e4554781" /><Relationship Type="http://schemas.openxmlformats.org/officeDocument/2006/relationships/image" Target="/ppt/media/image61.png" Id="Rcc8d94ebccb44bcd" /><Relationship Type="http://schemas.openxmlformats.org/officeDocument/2006/relationships/image" Target="/ppt/media/image62.png" Id="Rdb9caa1a23df4052" /><Relationship Type="http://schemas.openxmlformats.org/officeDocument/2006/relationships/image" Target="/ppt/media/image63.png" Id="Rc2493ee3f7ea49a8" /><Relationship Type="http://schemas.openxmlformats.org/officeDocument/2006/relationships/image" Target="/ppt/media/image64.png" Id="Rd0522f70aa684109" /><Relationship Type="http://schemas.openxmlformats.org/officeDocument/2006/relationships/image" Target="/ppt/media/image65.png" Id="R4eca223a2a6546e2" /><Relationship Type="http://schemas.openxmlformats.org/officeDocument/2006/relationships/image" Target="/ppt/media/image66.png" Id="Rb7bbd2c27e3246d7" /><Relationship Type="http://schemas.openxmlformats.org/officeDocument/2006/relationships/image" Target="/ppt/media/image67.png" Id="R9aea039b5b98435f" /><Relationship Type="http://schemas.openxmlformats.org/officeDocument/2006/relationships/image" Target="/ppt/media/image68.png" Id="Rb2d8aef9abd54a9a" /><Relationship Type="http://schemas.openxmlformats.org/officeDocument/2006/relationships/image" Target="/ppt/media/image69.png" Id="Re488bf8b0dba4e83" /><Relationship Type="http://schemas.openxmlformats.org/officeDocument/2006/relationships/image" Target="/ppt/media/image70.png" Id="R3cb428cbf965484f" /><Relationship Type="http://schemas.openxmlformats.org/officeDocument/2006/relationships/image" Target="/ppt/media/image71.png" Id="R77cd8f022371494d" /><Relationship Type="http://schemas.openxmlformats.org/officeDocument/2006/relationships/image" Target="/ppt/media/image72.png" Id="Re85340447dd44e71" /><Relationship Type="http://schemas.openxmlformats.org/officeDocument/2006/relationships/image" Target="/ppt/media/image73.png" Id="R0e3ec63894354b59" /><Relationship Type="http://schemas.openxmlformats.org/officeDocument/2006/relationships/image" Target="/ppt/media/image74.png" Id="R2078edfeacca410f" /><Relationship Type="http://schemas.openxmlformats.org/officeDocument/2006/relationships/image" Target="/ppt/media/image75.png" Id="R07552c0b6dba43bd" /><Relationship Type="http://schemas.openxmlformats.org/officeDocument/2006/relationships/image" Target="/ppt/media/image76.png" Id="R6ae3b1b30e0447c1" /><Relationship Type="http://schemas.openxmlformats.org/officeDocument/2006/relationships/image" Target="/ppt/media/image77.png" Id="R3646a188463e421f" /><Relationship Type="http://schemas.openxmlformats.org/officeDocument/2006/relationships/image" Target="/ppt/media/image78.png" Id="R86f3316c509c4840" /><Relationship Type="http://schemas.openxmlformats.org/officeDocument/2006/relationships/image" Target="/ppt/media/image79.png" Id="R94748480f0bf4153" /><Relationship Type="http://schemas.openxmlformats.org/officeDocument/2006/relationships/image" Target="/ppt/media/image80.png" Id="Reca83c4007c64195" /><Relationship Type="http://schemas.openxmlformats.org/officeDocument/2006/relationships/image" Target="/ppt/media/image81.png" Id="Rc8da1b24b23846fd" /><Relationship Type="http://schemas.openxmlformats.org/officeDocument/2006/relationships/image" Target="/ppt/media/image82.png" Id="R3931e333eed444d5" /><Relationship Type="http://schemas.openxmlformats.org/officeDocument/2006/relationships/notesSlide" Target="/ppt/notesSlides/notesSlide42.xml" Id="Ra8af863806ce4bc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[CHỈ SỐ]</c:v>
          </c:tx>
          <c:spPr>
            <a:ln xmlns:a="http://schemas.openxmlformats.org/drawingml/2006/main" w="28575">
              <a:solidFill>
                <a:srgbClr val="171ED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71EDB"/>
              </a:solidFill>
            </c:spPr>
          </c:marker>
          <c:cat>
            <c:strLit>
              <c:ptCount val="6"/>
              <c:pt idx="0">
                <c:v>T1</c:v>
              </c:pt>
              <c:pt idx="1">
                <c:v>T2</c:v>
              </c:pt>
              <c:pt idx="2">
                <c:v>T3</c:v>
              </c:pt>
              <c:pt idx="3">
                <c:v>T4</c:v>
              </c:pt>
              <c:pt idx="4">
                <c:v>T5</c:v>
              </c:pt>
              <c:pt idx="5">
                <c:v>T6</c:v>
              </c:pt>
            </c:strLit>
          </c:cat>
          <c:val>
            <c:numLit>
              <c:formatCode>General</c:formatCode>
              <c:ptCount val="6"/>
              <c:pt idx="0">
                <c:v>48</c:v>
              </c:pt>
              <c:pt idx="1">
                <c:v>56</c:v>
              </c:pt>
              <c:pt idx="2">
                <c:v>53</c:v>
              </c:pt>
              <c:pt idx="3">
                <c:v>67</c:v>
              </c:pt>
              <c:pt idx="4">
                <c:v>73</c:v>
              </c:pt>
              <c:pt idx="5">
                <c:v>82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2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[CHỈ SỐ A]</c:v>
          </c:tx>
          <c:spPr>
            <a:ln xmlns:a="http://schemas.openxmlformats.org/drawingml/2006/main" w="28575">
              <a:solidFill>
                <a:srgbClr val="171ED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171EDB"/>
              </a:solidFill>
            </c:spPr>
          </c:marker>
          <c:cat>
            <c:strLit>
              <c:ptCount val="8"/>
              <c:pt idx="0">
                <c:v>T1</c:v>
              </c:pt>
              <c:pt idx="1">
                <c:v>T2</c:v>
              </c:pt>
              <c:pt idx="2">
                <c:v>T3</c:v>
              </c:pt>
              <c:pt idx="3">
                <c:v>T4</c:v>
              </c:pt>
              <c:pt idx="4">
                <c:v>T5</c:v>
              </c:pt>
              <c:pt idx="5">
                <c:v>T6</c:v>
              </c:pt>
              <c:pt idx="6">
                <c:v>T7</c:v>
              </c:pt>
              <c:pt idx="7">
                <c:v>T8</c:v>
              </c:pt>
            </c:strLit>
          </c:cat>
          <c:val>
            <c:numLit>
              <c:formatCode>General</c:formatCode>
              <c:ptCount val="8"/>
              <c:pt idx="0">
                <c:v>42</c:v>
              </c:pt>
              <c:pt idx="1">
                <c:v>48</c:v>
              </c:pt>
              <c:pt idx="2">
                <c:v>45</c:v>
              </c:pt>
              <c:pt idx="3">
                <c:v>52</c:v>
              </c:pt>
              <c:pt idx="4">
                <c:v>61</c:v>
              </c:pt>
              <c:pt idx="5">
                <c:v>64</c:v>
              </c:pt>
              <c:pt idx="6">
                <c:v>70</c:v>
              </c:pt>
              <c:pt idx="7">
                <c:v>78</c:v>
              </c:pt>
            </c:numLit>
          </c:val>
        </c:ser>
        <c:ser>
          <c:idx val="1"/>
          <c:order val="1"/>
          <c:tx>
            <c:v>[CHỈ SỐ B]</c:v>
          </c:tx>
          <c:spPr>
            <a:ln xmlns:a="http://schemas.openxmlformats.org/drawingml/2006/main" w="19050">
              <a:solidFill>
                <a:srgbClr val="8A91A8"/>
              </a:solidFill>
              <a:prstDash val="solid"/>
            </a:ln>
          </c:spPr>
          <c:marker>
            <c:symbol val="none"/>
          </c:marker>
          <c:cat>
            <c:strLit>
              <c:ptCount val="8"/>
              <c:pt idx="0">
                <c:v>T1</c:v>
              </c:pt>
              <c:pt idx="1">
                <c:v>T2</c:v>
              </c:pt>
              <c:pt idx="2">
                <c:v>T3</c:v>
              </c:pt>
              <c:pt idx="3">
                <c:v>T4</c:v>
              </c:pt>
              <c:pt idx="4">
                <c:v>T5</c:v>
              </c:pt>
              <c:pt idx="5">
                <c:v>T6</c:v>
              </c:pt>
              <c:pt idx="6">
                <c:v>T7</c:v>
              </c:pt>
              <c:pt idx="7">
                <c:v>T8</c:v>
              </c:pt>
            </c:strLit>
          </c:cat>
          <c:val>
            <c:numLit>
              <c:formatCode>General</c:formatCode>
              <c:ptCount val="8"/>
              <c:pt idx="0">
                <c:v>38</c:v>
              </c:pt>
              <c:pt idx="1">
                <c:v>41</c:v>
              </c:pt>
              <c:pt idx="2">
                <c:v>47</c:v>
              </c:pt>
              <c:pt idx="3">
                <c:v>49</c:v>
              </c:pt>
              <c:pt idx="4">
                <c:v>53</c:v>
              </c:pt>
              <c:pt idx="5">
                <c:v>58</c:v>
              </c:pt>
              <c:pt idx="6">
                <c:v>60</c:v>
              </c:pt>
              <c:pt idx="7">
                <c:v>65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2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8A91A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Kế hoạch</c:v>
          </c:tx>
          <c:spPr>
            <a:solidFill xmlns:a="http://schemas.openxmlformats.org/drawingml/2006/main">
              <a:srgbClr val="E9ECFF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70</c:v>
              </c:pt>
              <c:pt idx="1">
                <c:v>78</c:v>
              </c:pt>
              <c:pt idx="2">
                <c:v>88</c:v>
              </c:pt>
              <c:pt idx="3">
                <c:v>96</c:v>
              </c:pt>
            </c:numLit>
          </c:val>
        </c:ser>
        <c:ser>
          <c:idx val="1"/>
          <c:order val="1"/>
          <c:tx>
            <c:v>Thực tế</c:v>
          </c:tx>
          <c:spPr>
            <a:solidFill xmlns:a="http://schemas.openxmlformats.org/drawingml/2006/main">
              <a:srgbClr val="171EDB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66</c:v>
              </c:pt>
              <c:pt idx="1">
                <c:v>82</c:v>
              </c:pt>
              <c:pt idx="2">
                <c:v>84</c:v>
              </c:pt>
              <c:pt idx="3">
                <c:v>91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>
                  <a:solidFill>
                    <a:srgbClr val="0812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2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8A91A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Tỷ trọng</c:v>
          </c:tx>
          <c:dPt>
            <c:idx val="0"/>
            <c:spPr>
              <a:solidFill xmlns:a="http://schemas.openxmlformats.org/drawingml/2006/main">
                <a:srgbClr val="171EDB"/>
              </a:solidFill>
            </c:spPr>
          </c:dPt>
          <c:dPt>
            <c:idx val="1"/>
            <c:spPr>
              <a:solidFill xmlns:a="http://schemas.openxmlformats.org/drawingml/2006/main">
                <a:srgbClr val="3157F5"/>
              </a:solidFill>
            </c:spPr>
          </c:dPt>
          <c:dPt>
            <c:idx val="2"/>
            <c:spPr>
              <a:solidFill xmlns:a="http://schemas.openxmlformats.org/drawingml/2006/main">
                <a:srgbClr val="7E91FA"/>
              </a:solidFill>
            </c:spPr>
          </c:dPt>
          <c:dPt>
            <c:idx val="3"/>
            <c:spPr>
              <a:solidFill xmlns:a="http://schemas.openxmlformats.org/drawingml/2006/main">
                <a:srgbClr val="E9ECFF"/>
              </a:solidFill>
            </c:spPr>
          </c:dPt>
          <c:cat>
            <c:strLit>
              <c:ptCount val="4"/>
              <c:pt idx="0">
                <c:v>[NHÓM A]</c:v>
              </c:pt>
              <c:pt idx="1">
                <c:v>[NHÓM B]</c:v>
              </c:pt>
              <c:pt idx="2">
                <c:v>[NHÓM C]</c:v>
              </c:pt>
              <c:pt idx="3">
                <c:v>[NHÓM D]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28</c:v>
              </c:pt>
              <c:pt idx="2">
                <c:v>18</c:v>
              </c:pt>
              <c:pt idx="3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>
                  <a:solidFill>
                    <a:srgbClr val="081235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F8F9FC"/>
        </a:solidFill>
        <a:ln xmlns:a="http://schemas.openxmlformats.org/drawingml/2006/main" w="0">
          <a:solidFill>
            <a:srgbClr val="F8F9F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8A91A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9FC"/>
    </a:solidFill>
    <a:ln xmlns:a="http://schemas.openxmlformats.org/drawingml/2006/main" w="0">
      <a:solidFill>
        <a:srgbClr val="F8F9FC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Phản hồi</c:v>
          </c:tx>
          <c:dPt>
            <c:idx val="0"/>
            <c:spPr>
              <a:solidFill xmlns:a="http://schemas.openxmlformats.org/drawingml/2006/main">
                <a:srgbClr val="0E9F6E"/>
              </a:solidFill>
            </c:spPr>
          </c:dPt>
          <c:dPt>
            <c:idx val="1"/>
            <c:spPr>
              <a:solidFill xmlns:a="http://schemas.openxmlformats.org/drawingml/2006/main">
                <a:srgbClr val="8A91A8"/>
              </a:solidFill>
            </c:spPr>
          </c:dPt>
          <c:dPt>
            <c:idx val="2"/>
            <c:spPr>
              <a:solidFill xmlns:a="http://schemas.openxmlformats.org/drawingml/2006/main">
                <a:srgbClr val="F50912"/>
              </a:solidFill>
            </c:spPr>
          </c:dPt>
          <c:cat>
            <c:strLit>
              <c:ptCount val="3"/>
              <c:pt idx="0">
                <c:v>Tích cực</c:v>
              </c:pt>
              <c:pt idx="1">
                <c:v>Trung tính</c:v>
              </c:pt>
              <c:pt idx="2">
                <c:v>Tiêu cực</c:v>
              </c:pt>
            </c:strLit>
          </c:cat>
          <c:val>
            <c:numLit>
              <c:formatCode>General</c:formatCode>
              <c:ptCount val="3"/>
              <c:pt idx="0">
                <c:v>58</c:v>
              </c:pt>
              <c:pt idx="1">
                <c:v>26</c:v>
              </c:pt>
              <c:pt idx="2">
                <c:v>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>
                  <a:solidFill>
                    <a:srgbClr val="081235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64"/>
      </c:doughnutChart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8A91A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Số lượng</c:v>
          </c:tx>
          <c:spPr>
            <a:solidFill xmlns:a="http://schemas.openxmlformats.org/drawingml/2006/main">
              <a:srgbClr val="171EDB"/>
            </a:solidFill>
          </c:spPr>
          <c:cat>
            <c:strLit>
              <c:ptCount val="4"/>
              <c:pt idx="0">
                <c:v>[CHỦ ĐỀ A]</c:v>
              </c:pt>
              <c:pt idx="1">
                <c:v>[CHỦ ĐỀ B]</c:v>
              </c:pt>
              <c:pt idx="2">
                <c:v>[CHỦ ĐỀ C]</c:v>
              </c:pt>
              <c:pt idx="3">
                <c:v>[CHỦ ĐỀ D]</c:v>
              </c:pt>
            </c:strLit>
          </c:cat>
          <c:val>
            <c:numLit>
              <c:formatCode>General</c:formatCode>
              <c:ptCount val="4"/>
              <c:pt idx="0">
                <c:v>76</c:v>
              </c:pt>
              <c:pt idx="1">
                <c:v>58</c:v>
              </c:pt>
              <c:pt idx="2">
                <c:v>41</c:v>
              </c:pt>
              <c:pt idx="3">
                <c:v>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>
                  <a:solidFill>
                    <a:srgbClr val="0812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[GIÁ TRỊ]</c:v>
          </c:tx>
          <c:spPr>
            <a:solidFill xmlns:a="http://schemas.openxmlformats.org/drawingml/2006/main">
              <a:srgbClr val="171EDB"/>
            </a:solidFill>
          </c:spPr>
          <c:cat>
            <c:strLit>
              <c:ptCount val="5"/>
              <c:pt idx="0">
                <c:v>[NHÓM A]</c:v>
              </c:pt>
              <c:pt idx="1">
                <c:v>[NHÓM B]</c:v>
              </c:pt>
              <c:pt idx="2">
                <c:v>[NHÓM C]</c:v>
              </c:pt>
              <c:pt idx="3">
                <c:v>[NHÓM D]</c:v>
              </c:pt>
              <c:pt idx="4">
                <c:v>[NHÓM E]</c:v>
              </c:pt>
            </c:strLit>
          </c:cat>
          <c:val>
            <c:numLit>
              <c:formatCode>General</c:formatCode>
              <c:ptCount val="5"/>
              <c:pt idx="0">
                <c:v>88</c:v>
              </c:pt>
              <c:pt idx="1">
                <c:v>74</c:v>
              </c:pt>
              <c:pt idx="2">
                <c:v>62</c:v>
              </c:pt>
              <c:pt idx="3">
                <c:v>48</c:v>
              </c:pt>
              <c:pt idx="4">
                <c:v>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>
                  <a:solidFill>
                    <a:srgbClr val="08123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2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08123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9FC"/>
        </a:solidFill>
        <a:ln xmlns:a="http://schemas.openxmlformats.org/drawingml/2006/main" w="0">
          <a:solidFill>
            <a:srgbClr val="F8F9FC"/>
          </a:solidFill>
          <a:prstDash val="solid"/>
        </a:ln>
      </c:spPr>
    </c:plotArea>
    <c:plotVisOnly val="1"/>
  </c:chart>
  <c:spPr>
    <a:solidFill xmlns:a="http://schemas.openxmlformats.org/drawingml/2006/main">
      <a:srgbClr val="F8F9FC"/>
    </a:solidFill>
    <a:ln xmlns:a="http://schemas.openxmlformats.org/drawingml/2006/main" w="0">
      <a:solidFill>
        <a:srgbClr val="F8F9FC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[KỲ TRƯỚC]</c:v>
          </c:tx>
          <c:spPr>
            <a:solidFill xmlns:a="http://schemas.openxmlformats.org/drawingml/2006/main">
              <a:srgbClr val="E9ECFF"/>
            </a:solidFill>
          </c:spPr>
          <c:cat>
            <c:strLit>
              <c:ptCount val="4"/>
              <c:pt idx="0">
                <c:v>[A]</c:v>
              </c:pt>
              <c:pt idx="1">
                <c:v>[B]</c:v>
              </c:pt>
              <c:pt idx="2">
                <c:v>[C]</c:v>
              </c:pt>
              <c:pt idx="3">
                <c:v>[D]</c:v>
              </c:pt>
            </c:strLit>
          </c:cat>
          <c:val>
            <c:numLit>
              <c:formatCode>General</c:formatCode>
              <c:ptCount val="4"/>
              <c:pt idx="0">
                <c:v>46</c:v>
              </c:pt>
              <c:pt idx="1">
                <c:v>40</c:v>
              </c:pt>
              <c:pt idx="2">
                <c:v>32</c:v>
              </c:pt>
              <c:pt idx="3">
                <c:v>22</c:v>
              </c:pt>
            </c:numLit>
          </c:val>
        </c:ser>
        <c:ser>
          <c:idx val="1"/>
          <c:order val="1"/>
          <c:tx>
            <c:v>[KỲ NÀY]</c:v>
          </c:tx>
          <c:spPr>
            <a:solidFill xmlns:a="http://schemas.openxmlformats.org/drawingml/2006/main">
              <a:srgbClr val="171EDB"/>
            </a:solidFill>
          </c:spPr>
          <c:cat>
            <c:strLit>
              <c:ptCount val="4"/>
              <c:pt idx="0">
                <c:v>[A]</c:v>
              </c:pt>
              <c:pt idx="1">
                <c:v>[B]</c:v>
              </c:pt>
              <c:pt idx="2">
                <c:v>[C]</c:v>
              </c:pt>
              <c:pt idx="3">
                <c:v>[D]</c:v>
              </c:pt>
            </c:strLit>
          </c:cat>
          <c:val>
            <c:numLit>
              <c:formatCode>General</c:formatCode>
              <c:ptCount val="4"/>
              <c:pt idx="0">
                <c:v>58</c:v>
              </c:pt>
              <c:pt idx="1">
                <c:v>48</c:v>
              </c:pt>
              <c:pt idx="2">
                <c:v>36</c:v>
              </c:pt>
              <c:pt idx="3">
                <c:v>26</c:v>
              </c:pt>
            </c:numLit>
          </c:val>
        </c:ser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2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8A91A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[QUÁ HẠN]</c:v>
          </c:tx>
          <c:spPr>
            <a:ln xmlns:a="http://schemas.openxmlformats.org/drawingml/2006/main" w="28575">
              <a:solidFill>
                <a:srgbClr val="F5091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50912"/>
              </a:solidFill>
            </c:spPr>
          </c:marker>
          <c:cat>
            <c:strLit>
              <c:ptCount val="6"/>
              <c:pt idx="0">
                <c:v>T1</c:v>
              </c:pt>
              <c:pt idx="1">
                <c:v>T2</c:v>
              </c:pt>
              <c:pt idx="2">
                <c:v>T3</c:v>
              </c:pt>
              <c:pt idx="3">
                <c:v>T4</c:v>
              </c:pt>
              <c:pt idx="4">
                <c:v>T5</c:v>
              </c:pt>
              <c:pt idx="5">
                <c:v>T6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42</c:v>
              </c:pt>
              <c:pt idx="2">
                <c:v>46</c:v>
              </c:pt>
              <c:pt idx="3">
                <c:v>44</c:v>
              </c:pt>
              <c:pt idx="4">
                <c:v>39</c:v>
              </c:pt>
              <c:pt idx="5">
                <c:v>34</c:v>
              </c:pt>
            </c:numLit>
          </c:val>
        </c:ser>
        <c:ser>
          <c:idx val="1"/>
          <c:order val="1"/>
          <c:tx>
            <c:v>[THU HỒI]</c:v>
          </c:tx>
          <c:spPr>
            <a:ln xmlns:a="http://schemas.openxmlformats.org/drawingml/2006/main" w="28575">
              <a:solidFill>
                <a:srgbClr val="171ED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71EDB"/>
              </a:solidFill>
            </c:spPr>
          </c:marker>
          <c:cat>
            <c:strLit>
              <c:ptCount val="6"/>
              <c:pt idx="0">
                <c:v>T1</c:v>
              </c:pt>
              <c:pt idx="1">
                <c:v>T2</c:v>
              </c:pt>
              <c:pt idx="2">
                <c:v>T3</c:v>
              </c:pt>
              <c:pt idx="3">
                <c:v>T4</c:v>
              </c:pt>
              <c:pt idx="4">
                <c:v>T5</c:v>
              </c:pt>
              <c:pt idx="5">
                <c:v>T6</c:v>
              </c:pt>
            </c:strLit>
          </c:cat>
          <c:val>
            <c:numLit>
              <c:formatCode>General</c:formatCode>
              <c:ptCount val="6"/>
              <c:pt idx="0">
                <c:v>52</c:v>
              </c:pt>
              <c:pt idx="1">
                <c:v>56</c:v>
              </c:pt>
              <c:pt idx="2">
                <c:v>58</c:v>
              </c:pt>
              <c:pt idx="3">
                <c:v>63</c:v>
              </c:pt>
              <c:pt idx="4">
                <c:v>68</c:v>
              </c:pt>
              <c:pt idx="5">
                <c:v>74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2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9FC"/>
        </a:solidFill>
        <a:ln xmlns:a="http://schemas.openxmlformats.org/drawingml/2006/main" w="0">
          <a:solidFill>
            <a:srgbClr val="F8F9F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8A91A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9FC"/>
    </a:solidFill>
    <a:ln xmlns:a="http://schemas.openxmlformats.org/drawingml/2006/main" w="0">
      <a:solidFill>
        <a:srgbClr val="F8F9FC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[ĐẠT SLA]</c:v>
          </c:tx>
          <c:spPr>
            <a:solidFill xmlns:a="http://schemas.openxmlformats.org/drawingml/2006/main">
              <a:srgbClr val="171EDB"/>
            </a:solidFill>
          </c:spPr>
          <c:cat>
            <c:strLit>
              <c:ptCount val="4"/>
              <c:pt idx="0">
                <c:v>[QT A]</c:v>
              </c:pt>
              <c:pt idx="1">
                <c:v>[QT B]</c:v>
              </c:pt>
              <c:pt idx="2">
                <c:v>[QT C]</c:v>
              </c:pt>
              <c:pt idx="3">
                <c:v>[QT D]</c:v>
              </c:pt>
            </c:strLit>
          </c:cat>
          <c:val>
            <c:numLit>
              <c:formatCode>General</c:formatCode>
              <c:ptCount val="4"/>
              <c:pt idx="0">
                <c:v>96</c:v>
              </c:pt>
              <c:pt idx="1">
                <c:v>91</c:v>
              </c:pt>
              <c:pt idx="2">
                <c:v>84</c:v>
              </c:pt>
              <c:pt idx="3">
                <c:v>76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>
                  <a:solidFill>
                    <a:srgbClr val="08123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Tiến độ</c:v>
          </c:tx>
          <c:dPt>
            <c:idx val="0"/>
            <c:spPr>
              <a:solidFill xmlns:a="http://schemas.openxmlformats.org/drawingml/2006/main">
                <a:srgbClr val="171EDB"/>
              </a:solidFill>
            </c:spPr>
          </c:dPt>
          <c:dPt>
            <c:idx val="1"/>
            <c:spPr>
              <a:solidFill xmlns:a="http://schemas.openxmlformats.org/drawingml/2006/main">
                <a:srgbClr val="E9ECFF"/>
              </a:solidFill>
            </c:spPr>
          </c:dPt>
          <c:cat>
            <c:strLit>
              <c:ptCount val="2"/>
              <c:pt idx="0">
                <c:v>Hoàn thành</c:v>
              </c:pt>
              <c:pt idx="1">
                <c:v>Còn lại</c:v>
              </c:pt>
            </c:strLit>
          </c:cat>
          <c:val>
            <c:numLit>
              <c:formatCode>General</c:formatCode>
              <c:ptCount val="2"/>
              <c:pt idx="0">
                <c:v>78</c:v>
              </c:pt>
              <c:pt idx="1">
                <c:v>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>
                  <a:solidFill>
                    <a:srgbClr val="081235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holeSize val="72"/>
      </c:doughnutChart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Thận trọng</c:v>
          </c:tx>
          <c:spPr>
            <a:ln xmlns:a="http://schemas.openxmlformats.org/drawingml/2006/main" w="19050">
              <a:solidFill>
                <a:srgbClr val="8A91A8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40</c:v>
              </c:pt>
              <c:pt idx="1">
                <c:v>43</c:v>
              </c:pt>
              <c:pt idx="2">
                <c:v>47</c:v>
              </c:pt>
              <c:pt idx="3">
                <c:v>50</c:v>
              </c:pt>
            </c:numLit>
          </c:val>
        </c:ser>
        <c:ser>
          <c:idx val="1"/>
          <c:order val="1"/>
          <c:tx>
            <c:v>Cơ sở</c:v>
          </c:tx>
          <c:spPr>
            <a:ln xmlns:a="http://schemas.openxmlformats.org/drawingml/2006/main" w="28575">
              <a:solidFill>
                <a:srgbClr val="171EDB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40</c:v>
              </c:pt>
              <c:pt idx="1">
                <c:v>48</c:v>
              </c:pt>
              <c:pt idx="2">
                <c:v>56</c:v>
              </c:pt>
              <c:pt idx="3">
                <c:v>66</c:v>
              </c:pt>
            </c:numLit>
          </c:val>
        </c:ser>
        <c:ser>
          <c:idx val="2"/>
          <c:order val="2"/>
          <c:tx>
            <c:v>Tích cực</c:v>
          </c:tx>
          <c:spPr>
            <a:ln xmlns:a="http://schemas.openxmlformats.org/drawingml/2006/main" w="19050">
              <a:solidFill>
                <a:srgbClr val="081235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40</c:v>
              </c:pt>
              <c:pt idx="1">
                <c:v>52</c:v>
              </c:pt>
              <c:pt idx="2">
                <c:v>65</c:v>
              </c:pt>
              <c:pt idx="3">
                <c:v>79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2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8A91A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8A91A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e25a3b2bd4d3e"/>
          <a:stretch xmlns:a="http://schemas.openxmlformats.org/drawingml/2006/main"/>
        </p:blipFill>
        <p:spPr>
          <a:xfrm xmlns:a="http://schemas.openxmlformats.org/drawingml/2006/main">
            <a:off x="685800" y="461149"/>
            <a:ext cx="1428750" cy="696951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C0C040-3C90-4731-822A-BF8458C6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00" b="1">
                <a:solidFill>
                  <a:srgbClr val="081235"/>
                </a:solidFill>
              </a:defRPr>
            </a:pPr>
            <a:r>
              <a:rPr sz="5200" b="1">
                <a:solidFill>
                  <a:srgbClr val="081235"/>
                </a:solidFill>
              </a:rPr>
              <a:t>[TÊN BÁO CÁO]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B0D729-E2D2-44E8-8FBF-705E9D1C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A91A8"/>
                </a:solidFill>
              </a:defRPr>
            </a:pPr>
            <a:r>
              <a:rPr sz="1800" b="0">
                <a:solidFill>
                  <a:srgbClr val="8A91A8"/>
                </a:solidFill>
              </a:rPr>
              <a:t>[ĐƠN VỊ]  •  [THỜI GIAN]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FA958-5141-4477-B9A0-7A7A06E2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171EDB"/>
              </a:gs>
              <a:gs pos="100000">
                <a:srgbClr val="3157F5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2623D-5594-4825-AED4-96A8E1D1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990600"/>
            <a:ext cx="2647950" cy="4495800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BB9D2-D504-47EA-B803-953B4288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[CHÈN HÌNH ẢNH]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HOẶC KEY VISUAL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684FE-7563-4E90-8CC3-F30AFB8E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171EDB"/>
                </a:solidFill>
              </a:defRPr>
            </a:pPr>
            <a:r>
              <a:rPr sz="1300" b="1">
                <a:solidFill>
                  <a:srgbClr val="171EDB"/>
                </a:solidFill>
              </a:rPr>
              <a:t>TEMPLATE TÀI CHÍNH • NGÂN HÀNG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93860-DAA3-4D05-91F6-6DDBBABB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[BẢO MẬT / PHÂN LOẠI TÀI LIỆU]</a:t>
            </a:r>
          </a:p>
        </p:txBody>
      </p:sp>
    </p:spTree>
    <p:extLst>
      <p:ext uri="{BB962C8B-B14F-4D97-AF65-F5344CB8AC3E}">
        <p14:creationId xmlns:p14="http://schemas.microsoft.com/office/powerpoint/2010/main" val="1833357464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235"/>
            </a:gs>
            <a:gs pos="58000">
              <a:srgbClr val="171EDB"/>
            </a:gs>
            <a:gs pos="100000">
              <a:srgbClr val="3157F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95363-6CD1-4031-BBC8-8FBA81C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5811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03d4df5104c5b"/>
          <a:stretch xmlns:a="http://schemas.openxmlformats.org/drawingml/2006/main"/>
        </p:blipFill>
        <p:spPr>
          <a:xfrm xmlns:a="http://schemas.openxmlformats.org/drawingml/2006/main">
            <a:off x="685800" y="461149"/>
            <a:ext cx="1428750" cy="696951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74A663-8324-457E-9283-2E3B3E4B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00" b="1">
                <a:solidFill>
                  <a:srgbClr val="FFFFFF"/>
                </a:solidFill>
              </a:defRPr>
            </a:pPr>
            <a:r>
              <a:rPr sz="5200" b="1">
                <a:solidFill>
                  <a:srgbClr val="FFFFFF"/>
                </a:solidFill>
              </a:rPr>
              <a:t>[TÊN BÁO CÁO]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9240E8-8CF8-4D19-9A1C-5B42024D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5098"/>
                  </a:srgbClr>
                </a:solidFill>
              </a:defRPr>
            </a:pPr>
            <a:r>
              <a:rPr sz="1800" b="0">
                <a:solidFill>
                  <a:srgbClr val="FFFFFF">
                    <a:alpha val="85098"/>
                  </a:srgbClr>
                </a:solidFill>
              </a:rPr>
              <a:t>[ĐƠN VỊ]  •  [THỜI GIAN]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9C45E-7B6D-4B8E-A0A4-4BBD5074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TEMPLATE TÀI CHÍNH • NGÂN HÀNG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B248F-ED2C-410C-B0CB-17241A92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0196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F30D5-402C-463A-AEF8-7EC0402F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5098"/>
                  </a:srgbClr>
                </a:solidFill>
              </a:defRPr>
            </a:pPr>
            <a:r>
              <a:rPr sz="1800" b="0">
                <a:solidFill>
                  <a:srgbClr val="FFFFFF">
                    <a:alpha val="85098"/>
                  </a:srgbClr>
                </a:solidFill>
              </a:rPr>
              <a:t>[THÔNG ĐIỆP CHÍNH]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366A0-FBA3-4919-8426-8661AEE8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8580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9628B-9C2E-49C2-9110-759131BB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686050" cy="2076450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16863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7303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cb5744e0d445c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0C7B70-71AE-4F95-9D7E-D45A37F8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[NỘI DUNG TRÌNH BÀY]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DF0ED-DC14-4207-B7F4-CDF27FB8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AGENDA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90C2A-F6C2-4C7F-9B61-0585003F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63B24-0535-4B9B-993C-5E98D3B9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73551-763C-495D-AF7A-1CD96F1D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E649A-FC93-429C-A049-F907F8E3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F50912"/>
                </a:solidFill>
              </a:defRPr>
            </a:pPr>
            <a:r>
              <a:rPr sz="2800" b="1">
                <a:solidFill>
                  <a:srgbClr val="F5091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EBEFB-6768-40D9-897D-2DF9338C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381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[CHỦ ĐỀ / PHẦN 01]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46773-2AFB-4AD6-B60E-8403DBFA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4307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NGẮN]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D47CB-A411-47D8-B65F-29FB1205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621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3F4D7-1A2A-4876-8BAE-4041580B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71EDB"/>
                </a:solidFill>
              </a:defRPr>
            </a:pPr>
            <a:r>
              <a:rPr sz="2800" b="1">
                <a:solidFill>
                  <a:srgbClr val="171ED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1ADE2-7AFB-43DD-B851-90207850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479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[CHỦ ĐỀ / PHẦN 02]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B2FBF-4916-414C-8932-4EB2ABDF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987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NGẮN]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E5307-4048-4568-8E85-E2DB2F82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289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409CD-B9F0-488B-B4EC-29DCAE72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71EDB"/>
                </a:solidFill>
              </a:defRPr>
            </a:pPr>
            <a:r>
              <a:rPr sz="2800" b="1">
                <a:solidFill>
                  <a:srgbClr val="171ED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AFA0C-4937-4D6A-9B84-1DB25A5D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147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[CHỦ ĐỀ / PHẦN 03]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A9930-B15F-405A-8133-7D32738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7667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NGẮN]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CD086-BD65-47AE-A4D1-E28CF681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957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2577B-C368-472A-B01D-41626607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71EDB"/>
                </a:solidFill>
              </a:defRPr>
            </a:pPr>
            <a:r>
              <a:rPr sz="2800" b="1">
                <a:solidFill>
                  <a:srgbClr val="171EDB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EF8DF-2BC3-4433-9D80-BB3E90CF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815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[CHỦ ĐỀ / PHẦN 04]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1BBC3-FCA8-4FDE-A9E4-F5E315E5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4347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NGẮN]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AE9AF-A3A6-4985-9119-A37256F0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625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83509-E897-44FC-A28B-590673BE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0175"/>
            <a:ext cx="2724150" cy="41148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1D9D4-2068-4B36-B0FD-0808F5B1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14600"/>
            <a:ext cx="2343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1EDB"/>
                </a:solidFill>
              </a:defRPr>
            </a:pPr>
            <a:r>
              <a:rPr sz="2400" b="1">
                <a:solidFill>
                  <a:srgbClr val="171EDB"/>
                </a:solidFill>
              </a:rPr>
              <a:t>[THÔNG ĐIỆP</a:t>
            </a:r>
          </a:p>
          <a:p xmlns:a="http://schemas.openxmlformats.org/drawingml/2006/main">
            <a:pPr algn="ctr">
              <a:defRPr sz="2400" b="1">
                <a:solidFill>
                  <a:srgbClr val="171EDB"/>
                </a:solidFill>
              </a:defRPr>
            </a:pPr>
            <a:r>
              <a:rPr sz="2400" b="1">
                <a:solidFill>
                  <a:srgbClr val="171EDB"/>
                </a:solidFill>
              </a:rPr>
              <a:t>ĐỊNH HƯỚNG]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00B5CD-E946-4AF7-8CF4-7B5A7573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081235"/>
                </a:solidFill>
              </a:defRPr>
            </a:pPr>
            <a:r>
              <a:rPr sz="1400" b="0">
                <a:solidFill>
                  <a:srgbClr val="081235"/>
                </a:solidFill>
              </a:rPr>
              <a:t>[GHI CHÚ CHO NGƯỜI TRÌNH BÀY]</a:t>
            </a:r>
          </a:p>
        </p:txBody>
      </p:sp>
    </p:spTree>
    <p:extLst>
      <p:ext uri="{BB962C8B-B14F-4D97-AF65-F5344CB8AC3E}">
        <p14:creationId xmlns:p14="http://schemas.microsoft.com/office/powerpoint/2010/main" val="68148983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235"/>
            </a:gs>
            <a:gs pos="70000">
              <a:srgbClr val="171EDB"/>
            </a:gs>
            <a:gs pos="100000">
              <a:srgbClr val="3157F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9B22B-E63C-4133-92A5-E60E5374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4097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2b3df7ec34ec5"/>
          <a:stretch xmlns:a="http://schemas.openxmlformats.org/drawingml/2006/main"/>
        </p:blipFill>
        <p:spPr>
          <a:xfrm xmlns:a="http://schemas.openxmlformats.org/drawingml/2006/main">
            <a:off x="689610" y="457200"/>
            <a:ext cx="124968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FEE16-9EA7-4592-98A8-31F52850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524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50912"/>
                </a:solidFill>
              </a:defRPr>
            </a:pPr>
            <a:r>
              <a:rPr sz="4400" b="1">
                <a:solidFill>
                  <a:srgbClr val="F50912"/>
                </a:solidFill>
              </a:rPr>
              <a:t>[01]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1125D5-6CE8-485E-9FB8-538D3790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[TIÊU ĐỀ PHẦN]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D21F857-7C9D-4765-BFA4-3F05D5E2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5098"/>
                  </a:srgbClr>
                </a:solidFill>
              </a:defRPr>
            </a:pPr>
            <a:r>
              <a:rPr sz="1800" b="0">
                <a:solidFill>
                  <a:srgbClr val="FFFFFF">
                    <a:alpha val="85098"/>
                  </a:srgbClr>
                </a:solidFill>
              </a:rPr>
              <a:t>[MÔ TẢ NGẮN VỀ NỘI DUNG PHẦN]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BE139-8B07-4B81-8E0B-EA2C365D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AC1BD-7F32-4F42-B6D7-047618B0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>
                    <a:alpha val="80000"/>
                  </a:srgbClr>
                </a:solidFill>
              </a:defRPr>
            </a:pPr>
            <a:r>
              <a:rPr sz="1300" b="1">
                <a:solidFill>
                  <a:srgbClr val="FFFFFF">
                    <a:alpha val="80000"/>
                  </a:srgbClr>
                </a:solidFill>
              </a:rPr>
              <a:t>[TỪ KHÓA 01]  •  [TỪ KHÓA 02]  •  [TỪ KHÓA 03]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8E65A-C9EE-4224-901B-BD857B47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8467E-1324-4FD0-B936-522946E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MB FINANCE &amp; BANKING TEMPLATE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C3195-73A0-42A7-94F2-6609BDD8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1102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3e49e5b31437b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768293-9B25-44F0-80D3-B0AF8395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[TÓM TẮT ĐIỀU HÀNH]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4F042-B2C6-4C57-A82C-838840A7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6760E-D16B-4976-AF50-AD56A44F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2A4FB-708C-465E-BF0F-A3EF775C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45755-9C27-4E39-81E0-8CB850CB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64D59-13BB-4CA1-9029-21BBABF6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609A8-F8E1-47E7-A733-79FFADA4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71EDB"/>
                </a:solidFill>
              </a:defRPr>
            </a:pPr>
            <a:r>
              <a:rPr sz="2800" b="1">
                <a:solidFill>
                  <a:srgbClr val="171EDB"/>
                </a:solidFill>
              </a:rPr>
              <a:t>[THÔNG ĐIỆP CHÍNH DÀNH CHO LÃNH ĐẠO]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B759F-525A-4C60-B51D-17A1F826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[Một câu giải thích ngắn về ý nghĩa và quyết định cần xem xét]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20692-B1CB-4D38-8091-398770CD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4290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2518D-3246-4284-905E-5D391E99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71EDB"/>
                </a:solidFill>
              </a:defRPr>
            </a:pPr>
            <a:r>
              <a:rPr sz="2000" b="1">
                <a:solidFill>
                  <a:srgbClr val="171EDB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6B6FC-1524-4EC1-96BC-0994504F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81235"/>
                </a:solidFill>
              </a:defRPr>
            </a:pPr>
            <a:r>
              <a:rPr sz="2000" b="1">
                <a:solidFill>
                  <a:srgbClr val="081235"/>
                </a:solidFill>
              </a:rPr>
              <a:t>[BỐI CẢNH]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BB25B-9147-4E69-A528-BD45C165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[Tóm tắt dữ liệu, xu hướng hoặc sự kiện quan trọng]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62D1D-447A-4A90-8440-68EEF795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14B1B-55A4-4991-9078-E9718AF9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34290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8B76F-A624-48EA-8404-CDFBF7C0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71EDB"/>
                </a:solidFill>
              </a:defRPr>
            </a:pPr>
            <a:r>
              <a:rPr sz="2000" b="1">
                <a:solidFill>
                  <a:srgbClr val="171EDB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5A1E4-5D36-47EB-B377-724BE339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81235"/>
                </a:solidFill>
              </a:defRPr>
            </a:pPr>
            <a:r>
              <a:rPr sz="2000" b="1">
                <a:solidFill>
                  <a:srgbClr val="081235"/>
                </a:solidFill>
              </a:rPr>
              <a:t>[TÁC ĐỘNG]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C3492-3BF3-4BFB-9545-A7B282C7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671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[Ý nghĩa đối với kinh doanh, khách hàng hoặc vận hành]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AD70F-273A-423B-8A2E-ED1002E9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1E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63B2E-45C5-40D7-B857-763BB81A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34290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D551F-21C5-45A4-87FA-40516142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F50912"/>
                </a:solidFill>
              </a:defRPr>
            </a:pPr>
            <a:r>
              <a:rPr sz="2000" b="1">
                <a:solidFill>
                  <a:srgbClr val="F50912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8B46E-82FB-4583-95B6-CC80A4A6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81235"/>
                </a:solidFill>
              </a:defRPr>
            </a:pPr>
            <a:r>
              <a:rPr sz="2000" b="1">
                <a:solidFill>
                  <a:srgbClr val="081235"/>
                </a:solidFill>
              </a:rPr>
              <a:t>[KHUYẾN NGHỊ]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D4F1B-FB87-41B0-A936-04869C39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[Hành động ưu tiên, quyết định hoặc bước tiếp theo]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0A6EFA-1991-4D92-8B01-C7C06DD0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091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9940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0638014b64955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06F99B-1276-43DA-8B30-87E662F5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[THÔNG ĐIỆP TRỌNG TÂM]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F49E4-F55A-4A40-A18F-DAE9096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KEY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668C9-1994-4490-844F-543294D8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6F035-2694-4E5E-B72C-94E19487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B8F52-6858-4274-88F5-7F78E9BA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A5DBE-DE66-4136-96EA-BCBBA5C8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6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50912"/>
                </a:solidFill>
              </a:defRPr>
            </a:pPr>
            <a:r>
              <a:rPr sz="7200" b="1">
                <a:solidFill>
                  <a:srgbClr val="F50912"/>
                </a:solidFill>
              </a:rPr>
              <a:t>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D4C2C-21AE-4669-82C3-F1A2FA0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7239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[MỘT THÔNG ĐIỆP CHÍNH</a:t>
            </a:r>
          </a:p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RÕ RÀNG, NGẮN GỌN VÀ CÓ THỂ HÀNH ĐỘNG]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DAFAF-1332-4505-98B2-92909634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653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E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8DDD2-A211-4F92-A9C8-4BBDCBF9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71EDB"/>
                </a:solidFill>
              </a:defRPr>
            </a:pPr>
            <a:r>
              <a:rPr sz="2000" b="1">
                <a:solidFill>
                  <a:srgbClr val="171EDB"/>
                </a:solidFill>
              </a:rPr>
              <a:t>[INSIGHT TỪ DỮ LIỆU]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82F44-4106-48DF-B9B4-AEE2D2F4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8A91A8"/>
                </a:solidFill>
              </a:defRPr>
            </a:pPr>
            <a:r>
              <a:rPr sz="1700" b="0">
                <a:solidFill>
                  <a:srgbClr val="8A91A8"/>
                </a:solidFill>
              </a:rPr>
              <a:t>[Mô tả ngắn bằng 1–2 câu để làm rõ thông điệp và bối cảnh]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169D9-5DB6-4549-91D8-F4F67590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52550"/>
            <a:ext cx="2667000" cy="3752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4ADBC-B3C7-4373-B8F7-5DBBE153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400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F43EC-E241-4907-ADDF-17317BD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[CHỈ SỐ NỔI BẬT]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10157-2580-4314-84BE-8BCF2E81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FFFFFF">
                    <a:alpha val="72157"/>
                  </a:srgbClr>
                </a:solidFill>
              </a:defRPr>
            </a:pPr>
            <a:r>
              <a:rPr sz="1100" b="0">
                <a:solidFill>
                  <a:srgbClr val="FFFFFF">
                    <a:alpha val="72157"/>
                  </a:srgbClr>
                </a:solidFill>
              </a:rPr>
              <a:t>[GHI CHÚ / NGUỒN]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E498B-EE9E-4540-A253-032FAD70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8905945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8d63b677f45bf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C10E80-A1F3-47ED-92A9-086DD436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[TỔNG QUAN CHỈ SỐ]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9938D-3AAE-4715-BA74-BC826AA5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KPI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B4989-5630-4B6A-9FF6-8BC9372C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AF0BE-72ED-4DC8-9F0A-FC3FF34D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1512C-310B-4CD7-9AA8-3BA1F2D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22255-D47B-4C6F-A339-AA6B91CE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8A7D2-9467-4D90-B72F-A5408927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[KPI 01]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D8CB6-C689-4015-BBF8-176AB05C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[XX%]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F8996-56F2-4DB6-AACC-31E18F46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F6E"/>
                </a:solidFill>
              </a:defRPr>
            </a:pPr>
            <a:r>
              <a:rPr sz="1200" b="1">
                <a:solidFill>
                  <a:srgbClr val="0E9F6E"/>
                </a:solidFill>
              </a:rPr>
              <a:t>[±XX% so với kỳ trước]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32FB3-9C85-4A07-BD22-80B90E00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954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7B159-12D4-4ECA-9ABC-0264861D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478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[KPI 02]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12013-BE47-4B46-AEAF-40994607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81235"/>
                </a:solidFill>
              </a:defRPr>
            </a:pPr>
            <a:r>
              <a:rPr sz="2300" b="1">
                <a:solidFill>
                  <a:srgbClr val="081235"/>
                </a:solidFill>
              </a:rPr>
              <a:t>[XXX TỶ VND]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85F0A-E24A-4394-9E56-9C7CBA39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[±XX% so với kế hoạch]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576B1-531A-4350-88BA-42D01197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954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3A109-A17D-4B92-952E-4641D829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478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[KPI 03]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5260D-0074-47EA-ABE9-8BC8AF63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[XX.X]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E81C1-0D02-47F2-B148-1C641BA5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0912"/>
                </a:solidFill>
              </a:defRPr>
            </a:pPr>
            <a:r>
              <a:rPr sz="1200" b="1">
                <a:solidFill>
                  <a:srgbClr val="F50912"/>
                </a:solidFill>
              </a:rPr>
              <a:t>[±X.X điểm]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54EA6-0D3F-4963-998A-AAA2E7B1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9540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BA6BB-6BBB-44CE-A717-3FDFD096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478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[KPI 04]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EC0EC-97F4-45F6-8C29-CF1E56F9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[XXX]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D40E2-BA32-49B2-854F-28E40EF7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38375"/>
            <a:ext cx="2133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[±XX so với mục tiêu]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DDABBE-3BD8-4108-BF4E-E284F4DC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10591800" cy="2705100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38426-8C8A-4787-A243-B37EF8C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81235"/>
                </a:solidFill>
              </a:defRPr>
            </a:pPr>
            <a:r>
              <a:rPr sz="2000" b="1">
                <a:solidFill>
                  <a:srgbClr val="081235"/>
                </a:solidFill>
              </a:rPr>
              <a:t>[INSIGHT TỪ DỮ LIỆU]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314F9-3040-4104-867D-C28614B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8A91A8"/>
                </a:solidFill>
              </a:defRPr>
            </a:pPr>
            <a:r>
              <a:rPr sz="1700" b="0">
                <a:solidFill>
                  <a:srgbClr val="8A91A8"/>
                </a:solidFill>
              </a:rPr>
              <a:t>[Viết 1 câu về xu hướng chính, 1 câu về nguyên nhân và 1 câu về hành động ưu tiên]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F9350-1D77-41CD-BA93-AD079D4E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95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2EE"/>
          </a:solidFill>
          <a:ln xmlns:a="http://schemas.openxmlformats.org/drawingml/2006/main" w="0">
            <a:solidFill>
              <a:srgbClr val="DD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91067-45C0-4B1E-B2AB-A5E09931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81235"/>
                </a:solidFill>
              </a:defRPr>
            </a:pPr>
            <a:r>
              <a:rPr sz="2000" b="1">
                <a:solidFill>
                  <a:srgbClr val="081235"/>
                </a:solidFill>
              </a:rPr>
              <a:t>[MỤC TIÊU KỲ TỚI]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DD3A2-5AA3-418C-9848-A157BBBC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9C63CC-7A26-4FA7-9D71-19856D8C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766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[MỤC TIÊU 01]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3371B2-03E3-4C4E-97CA-98FF688D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FC78E1-9980-42E1-90A1-69416FA9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[MỤC TIÊU 02]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6FB10-FC8B-4ACD-8424-9E318490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A36EBB-46B5-4EEE-8884-7F019AD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053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[MỤC TIÊU 03]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D36D5E-E0CC-4A89-9D9C-65C5506E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492070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11d9615404abf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385A0A-7074-48B2-A5DD-73DB8BB2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[HIỆU QUẢ TÀI CHÍNH &amp; KINH DOANH]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4CE23-8D65-4F60-9057-E2547A7F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FINANCIAL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B33A4-093C-4FBD-957F-973CA0D2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70F06-6727-4C94-B60A-0BB2CE64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1B773-6796-4EDF-B3A1-1257E28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19B12-D4E5-4E20-AEF9-308ACF96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F77F6-D1C8-424E-8B55-A9B5EFF0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[DOANH THU]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43D2A-CFFC-4BBC-BF41-3C3BBCF5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[XXX TỶ]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777FE-AA75-4B2C-9BD6-E203E913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F6E"/>
                </a:solidFill>
              </a:defRPr>
            </a:pPr>
            <a:r>
              <a:rPr sz="1200" b="1">
                <a:solidFill>
                  <a:srgbClr val="0E9F6E"/>
                </a:solidFill>
              </a:rPr>
              <a:t>[+XX% YoY]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8FC12-F71F-43F9-AC8F-E5B581AD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382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3F466-5941-4F5F-8D14-61B61A92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90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[CHI PHÍ]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AD48E-FBD0-4F6B-8CA0-A47EDB43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[XXX TỶ]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B42B3-590C-4DBB-BFDC-3E2E522D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812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0912"/>
                </a:solidFill>
              </a:defRPr>
            </a:pPr>
            <a:r>
              <a:rPr sz="1200" b="1">
                <a:solidFill>
                  <a:srgbClr val="F50912"/>
                </a:solidFill>
              </a:rPr>
              <a:t>[±XX% YoY]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B9200-64DA-4FA7-BEDE-13C1F3E3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2382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6A211-4301-4F09-B27C-DE3E6668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90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[LỢI NHUẬN]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849C9-F7D8-47F0-BE47-CA1340CD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954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[XXX TỶ]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0A73C-492E-41E8-9DD6-78BA250F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812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[+XX% YoY]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65166-EA7A-438B-AFED-AE1C7BD8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38250"/>
            <a:ext cx="2933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FABD7-7FC0-44B0-BD64-44D18AE2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906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[BIÊN LỢI NHUẬN]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FF309-4FB9-4783-A1EB-EEFA845B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[XX.X%]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00523-CD16-4546-A137-5BCC38A1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2590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[±X.X điểm %]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BBB5D-4FA5-4E1D-9F10-6A722C53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6858000" cy="2838450"/>
          </a:xfrm>
          <a:prstGeom xmlns:a="http://schemas.openxmlformats.org/drawingml/2006/main" prst="roundRect">
            <a:avLst>
              <a:gd name="adj" fmla="val 4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7A52D-C0D5-4256-A5AA-DFE9D485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[XU HƯỚNG DOANH THU]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742950" y="3390900"/>
          <a:ext xmlns:a="http://schemas.openxmlformats.org/drawingml/2006/main" cx="6286500" cy="2019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ff50313ef34dea"/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AC81D-ED59-45D1-B184-13F8C284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3543300" cy="2838450"/>
          </a:xfrm>
          <a:prstGeom xmlns:a="http://schemas.openxmlformats.org/drawingml/2006/main" prst="roundRect">
            <a:avLst>
              <a:gd name="adj" fmla="val 4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43A24-7FEA-4A68-89B3-A6DA9F0F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[ĐIỂM CẦN LƯU Ý]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F7DBAD-8229-4606-B63E-3613C108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8B0AAE-EEC3-436E-94AA-6857EA28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337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F50912"/>
                </a:solidFill>
              </a:defRPr>
            </a:pPr>
            <a:r>
              <a:rPr sz="1100" b="1">
                <a:solidFill>
                  <a:srgbClr val="F50912"/>
                </a:solidFill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EDDF5C-1D06-4167-B4A6-9589DA96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147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[INSIGHT / RỦI RO 01]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7D2F8-1E95-42FD-B6E7-5E9E03F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2E620-4067-4DEE-8CBA-F510D33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43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E9F6E"/>
                </a:solidFill>
              </a:defRPr>
            </a:pPr>
            <a:r>
              <a:rPr sz="1100" b="1">
                <a:solidFill>
                  <a:srgbClr val="0E9F6E"/>
                </a:solidFill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B00670-DAFA-4F0A-82F7-60058BF1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243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[INSIGHT / CƠ HỘI 02]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ABEF7-CE0B-482B-BFE4-851D8196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5F3D97-5F47-45F1-8F39-EC043219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529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83FE0A-7641-4ABD-A9F6-12D7717F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[HÀNH ĐỘNG ƯU TIÊN]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6ED42B-A6B6-41C4-BD8E-CFE10666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703583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fdc8204b6437b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181AFD-2FD5-48C7-A545-D94E48D1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[XU HƯỚNG THEO THỜI GIAN]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61D6A-34F6-48AA-A06C-778CC3E1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TREND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400F4-18D3-465F-B652-7AA81420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2EA49-F7CF-4FA1-BFBA-FE96321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B027C-560B-41FD-B84D-C6CBC5E1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C7F73-F3E0-45BF-B396-93BD9D28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1235"/>
                </a:solidFill>
              </a:defRPr>
            </a:pPr>
            <a:r>
              <a:rPr sz="2400" b="1">
                <a:solidFill>
                  <a:srgbClr val="081235"/>
                </a:solidFill>
              </a:rPr>
              <a:t>[INSIGHT TỪ DỮ LIỆU]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AA85A-B049-498C-A47F-BFB6A7AD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điểm chuyển, xu hướng và nguyên nhân cần chú ý]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A0411-72DD-44FC-ABCF-0A160C89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772400" cy="3448050"/>
          </a:xfrm>
          <a:prstGeom xmlns:a="http://schemas.openxmlformats.org/drawingml/2006/main" prst="roundRect">
            <a:avLst>
              <a:gd name="adj" fmla="val 3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81050" y="2324100"/>
          <a:ext xmlns:a="http://schemas.openxmlformats.org/drawingml/2006/main" cx="7239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98fce8ec7c40c0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F341F-CE0D-4E46-9F65-7876966E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552700" cy="3448050"/>
          </a:xfrm>
          <a:prstGeom xmlns:a="http://schemas.openxmlformats.org/drawingml/2006/main" prst="roundRect">
            <a:avLst>
              <a:gd name="adj" fmla="val 5224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B1E32-9283-45BC-B23E-BE291119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EDB"/>
                </a:solidFill>
              </a:defRPr>
            </a:pPr>
            <a:r>
              <a:rPr sz="1800" b="1">
                <a:solidFill>
                  <a:srgbClr val="171EDB"/>
                </a:solidFill>
              </a:rPr>
              <a:t>[MỐC QUAN TRỌNG]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DD5A6-DB9A-4EF0-AEF6-19693A09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85FFB-5DC2-4125-AC29-FDE02C74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956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[MỐC 01]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05E96-69A3-425A-B45A-F86A4FEB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19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50912"/>
                </a:solidFill>
              </a:defRPr>
            </a:pPr>
            <a:r>
              <a:rPr sz="1600" b="1">
                <a:solidFill>
                  <a:srgbClr val="F50912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AFE49-7C4C-4AB4-B37A-E0B0D55E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195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[MỐC 02]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8CAD2-A64A-4FFB-90C4-50A90A7E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04338-185F-4D46-87D9-C63F7753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43400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[MỐC 03]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DA011-F013-4ED4-A7F4-3ADAF910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629395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447477e104857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469DF5-314F-41D0-B09C-0AD00E48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[KẾ HOẠCH SO VỚI THỰC TẾ]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0B75F-FDE1-45B6-B4F7-64465AF1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PLAN VS ACTUAL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9C433-EC21-49A2-B2D5-C3F9ED52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42504-F34A-4314-BE58-8C8CB1D4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4F344-E6AD-48DF-AF46-240C43CD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5ECF1-B6C5-49B5-BFEA-CEA6BAA2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7524750" cy="4210050"/>
          </a:xfrm>
          <a:prstGeom xmlns:a="http://schemas.openxmlformats.org/drawingml/2006/main" prst="roundRect">
            <a:avLst>
              <a:gd name="adj" fmla="val 3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00100" y="1619250"/>
          <a:ext xmlns:a="http://schemas.openxmlformats.org/drawingml/2006/main" cx="6953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9da9446f364d9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52603-7489-41CB-9E9D-CA4DE936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76350"/>
            <a:ext cx="2800350" cy="421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3F5F4"/>
          </a:solidFill>
          <a:ln xmlns:a="http://schemas.openxmlformats.org/drawingml/2006/main" w="0">
            <a:solidFill>
              <a:srgbClr val="F3F5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B3D84-4499-432D-AF92-8C96EDCA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[CHÊNH LỆCH]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13DFC-98C4-4CF9-B60C-9E4C7D16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30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0912"/>
                </a:solidFill>
              </a:defRPr>
            </a:pPr>
            <a:r>
              <a:rPr sz="4200" b="1">
                <a:solidFill>
                  <a:srgbClr val="F50912"/>
                </a:solidFill>
              </a:rPr>
              <a:t>[±XX%]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D1BC8-8F54-45D9-A9F3-DBFD6CD1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[NGUYÊN NHÂN]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74A6C-03CC-46F0-8554-FB10177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A91A8"/>
                </a:solidFill>
              </a:defRPr>
            </a:pPr>
            <a:r>
              <a:rPr sz="1500" b="0">
                <a:solidFill>
                  <a:srgbClr val="8A91A8"/>
                </a:solidFill>
              </a:rPr>
              <a:t>[Mô tả ngắn nguyên nhân chính]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D6FED-D947-42D0-A087-54A6E6EC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[HÀNH ĐỘNG]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E24B7-39E6-4F5B-BA86-8BF57845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A91A8"/>
                </a:solidFill>
              </a:defRPr>
            </a:pPr>
            <a:r>
              <a:rPr sz="1500" b="0">
                <a:solidFill>
                  <a:srgbClr val="8A91A8"/>
                </a:solidFill>
              </a:rPr>
              <a:t>[Bước tiếp theo để thu hẹp khoảng cách]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CD452-7137-41EC-AF46-9E71BEFA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4049039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19aa57e67477c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82A8F5-836C-4315-B33B-C618DBFE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[CƠ CẤU TỶ TRỌNG &amp; PHÂN BỔ]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789DB-74DE-444B-9548-33C502C9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COMPOSITION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C856A-A8DF-4644-ADC5-A42FD248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A2A31-A5CC-47F4-AF73-83021F8F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66D74-E87B-426F-931A-8A254840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460A0-2D3F-4DD1-ABED-81EB2E3B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5619750" cy="4171950"/>
          </a:xfrm>
          <a:prstGeom xmlns:a="http://schemas.openxmlformats.org/drawingml/2006/main" prst="roundRect">
            <a:avLst>
              <a:gd name="adj" fmla="val 3196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0">
            <a:solidFill>
              <a:srgbClr val="F8F9FC"/>
            </a:solidFill>
            <a:prstDash val="solid"/>
          </a:ln>
        </p:spPr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76300" y="1752600"/>
          <a:ext xmlns:a="http://schemas.openxmlformats.org/drawingml/2006/main" cx="47625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d0a3a871d5433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C60B4-CD42-4383-9721-31E92604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1235"/>
                </a:solidFill>
              </a:defRPr>
            </a:pPr>
            <a:r>
              <a:rPr sz="2400" b="1">
                <a:solidFill>
                  <a:srgbClr val="081235"/>
                </a:solidFill>
              </a:rPr>
              <a:t>[INSIGHT TỪ CƠ CẤU]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6C57F-70CB-4BF0-B97A-BA04752E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nhóm chiếm tỷ trọng lớn, thay đổi đáng chú ý và hàm ý quản trị]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04D57-B643-4DCF-8168-B5CDC83F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59C17-4045-482F-B41D-AAA85B5A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[NHÓM A]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9F301-193B-4B27-A773-53D9E0F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[XX%]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26A08-DC5E-4A23-B3D3-F910DCB3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57F5"/>
          </a:solidFill>
          <a:ln xmlns:a="http://schemas.openxmlformats.org/drawingml/2006/main" w="0">
            <a:solidFill>
              <a:srgbClr val="3157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81156-A7CA-4E30-9EC5-F010CD67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[NHÓM B]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E43AE-0EF6-4213-8781-E5A806D7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099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[XX%]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3FE3D-6247-4F35-8970-2DF791C9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E91FA"/>
          </a:solidFill>
          <a:ln xmlns:a="http://schemas.openxmlformats.org/drawingml/2006/main" w="0">
            <a:solidFill>
              <a:srgbClr val="7E91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C835F-4773-4172-89A5-662ABF2A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[NHÓM C]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A7C8D-42DD-4A64-81FE-E3E75322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6240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[XX%]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36E74-326D-4BF1-8674-C0B99C8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529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F9C52-C2ED-42EB-B736-6379EE5D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[NHÓM D]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B14C8-7FFA-4CDC-A8BD-2303EBE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148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[XX%]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27FE3-9234-446C-8206-0FECE48B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7801028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d55e5eb594926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6EB015-6FAF-4A5A-8A64-FB251136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[BẢNG DỮ LIỆU TÀI CHÍNH CHI TIẾT]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6E7E0-3942-44E4-9827-68F98299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DATA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28B22-51BC-4D7B-97AB-9D2DD58B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4C6C5-661E-4281-8646-ED510973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3969E-2B43-4AB4-A2BD-EF103273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803DD-C037-45DB-94A9-C0A5DD9A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[ĐƠN VỊ: TỶ VND / % / SỐ LƯỢNG]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33400" y="1504950"/>
          <a:ext xmlns:a="http://schemas.openxmlformats.org/drawingml/2006/main" cx="111252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95246"/>
                <a:gridCol w="1426308"/>
                <a:gridCol w="1426308"/>
                <a:gridCol w="1426308"/>
                <a:gridCol w="1426308"/>
                <a:gridCol w="2424723"/>
              </a:tblGrid>
              <a:tr h="60007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[CHỈ TIÊU]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[KỲ TRƯỚC]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[KỲ NÀY]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[KẾ HOẠCH]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[CHÊNH LỆCH]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[GHI CHÚ]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[CHỈ TIÊU 01]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[±XX%]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[GHI CHÚ]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[CHỈ TIÊU 02]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E9F6E"/>
                          </a:solidFill>
                        </a:rPr>
                        <a:t>[±XX%]</a:t>
                      </a:r>
                    </a:p>
                  </a:txBody>
                  <a:tcPr marL="91440" marR="91440" marT="45720" marB="45720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[GHI CHÚ]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[CHỈ TIÊU 03]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[±XX%]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[GHI CHÚ]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[CHỈ TIÊU 04]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50912"/>
                          </a:solidFill>
                        </a:rPr>
                        <a:t>[±XX%]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[GHI CHÚ]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[CHỈ TIÊU 05]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[XXX]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[±XX%]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[GHI CHÚ]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D14E9-B40A-4503-99BC-4C64FB49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11252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7C3B3-AB89-4792-98A7-6C6E8DB1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[INSIGHT TỪ DỮ LIỆU]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8BCD4-8089-41FB-9399-D2E6C7E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05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1235"/>
                </a:solidFill>
              </a:defRPr>
            </a:pPr>
            <a:r>
              <a:rPr sz="1500" b="0">
                <a:solidFill>
                  <a:srgbClr val="081235"/>
                </a:solidFill>
              </a:rPr>
              <a:t>[Tóm tắt xu hướng, ngoại lệ và điểm cần hành động]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3BC6C-B863-4FF3-A65E-0E1C548C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9279018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7217490d94631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754661-DB56-473C-BDC6-FBA43F1E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[SO SÁNH SẢN PHẨM / ĐỐI THỦ]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B25A1-1E20-4213-8E3F-9BD97DFF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F6551-BEDB-4E05-A576-2371617F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400AC-7994-44F8-8014-B3A68065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D54F7-368F-48A8-92F1-B062B65D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13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14287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96356"/>
                <a:gridCol w="2884311"/>
                <a:gridCol w="2472267"/>
                <a:gridCol w="2472267"/>
              </a:tblGrid>
              <a:tr h="61912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[TIÊU CHÍ]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[MB / SẢN PHẨM A]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[ĐỐI TƯỢNG B]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[ĐỐI TƯỢNG C]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[TIÊU CHÍ 01]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1EDB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E9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[TIÊU CHÍ 02]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1EDB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E2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[TIÊU CHÍ 03]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1EDB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E9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[TIÊU CHÍ 04]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1EDB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E2E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[TIÊU CHÍ 05]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1EDB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E9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[MÔ TẢ]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9E7D3-BD0B-4563-A526-FA6852CC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11252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13E9B-5CAE-4FFC-BAE7-436971DF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[KẾT LUẬN SO SÁNH]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D1539-E1E4-4F71-998E-F53911B7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435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[Điểm khác biệt chính và hàm ý cho quyết định]</a:t>
            </a:r>
          </a:p>
        </p:txBody>
      </p:sp>
    </p:spTree>
    <p:extLst>
      <p:ext uri="{BB962C8B-B14F-4D97-AF65-F5344CB8AC3E}">
        <p14:creationId xmlns:p14="http://schemas.microsoft.com/office/powerpoint/2010/main" val="9867146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46f7204584f77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911E74-AA8C-4E1E-9AE2-0B1FE06C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[TỔNG QUAN CX / VOC]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F9482-51A0-4840-9155-392ED2B2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CUSTOMER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4C23E-4581-4DF3-B398-EBEA4908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69CEC-6921-4B62-81C2-149A461B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B8418-518C-4486-BD86-AE2F090B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D58BD-2E64-40EC-9FFE-68DB733B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2400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DEF42-A408-46DC-A0A6-1413A16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[CSAT / RATING]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797CB-5E94-4D85-BA03-7D0DF25B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[X.X/5]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9882C-1B4E-46CA-8317-066436FD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2057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F6E"/>
                </a:solidFill>
              </a:defRPr>
            </a:pPr>
            <a:r>
              <a:rPr sz="1200" b="1">
                <a:solidFill>
                  <a:srgbClr val="0E9F6E"/>
                </a:solidFill>
              </a:rPr>
              <a:t>[±X.X so với kỳ trước]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06B4D-7FFE-4CEB-93C9-05A343A2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257300"/>
            <a:ext cx="2400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E9F98-8A3B-4023-8D39-38B1481A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09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[NPS]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6CCE2-DA31-4460-A487-1B83CC1B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A4B9C-C86A-41D9-BF77-126498D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00275"/>
            <a:ext cx="2057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[±X điểm]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E931B-7FC3-40FE-8BD3-886EF28C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257300"/>
            <a:ext cx="2400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EBED5-8600-4715-8A78-25EC3EAF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097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[TỶ LỆ LỖI]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2E85E-F49B-4A52-9937-DF25821C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145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[XX%]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83F68-4B8D-409A-8C45-21D37D98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00275"/>
            <a:ext cx="2057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0912"/>
                </a:solidFill>
              </a:defRPr>
            </a:pPr>
            <a:r>
              <a:rPr sz="1200" b="1">
                <a:solidFill>
                  <a:srgbClr val="F50912"/>
                </a:solidFill>
              </a:rPr>
              <a:t>[±XX%]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C509E-2E86-4BD6-8259-609C1262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57300"/>
            <a:ext cx="28765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8845F-14DC-4223-A571-B1464445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[PHẢN HỒI KH]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4E6AA-2B04-4690-9B08-979A1AD3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14500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[XXX]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3C79A-3195-4DB3-852A-FF1B9C9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0275"/>
            <a:ext cx="2533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[±XX%]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996E7-42BA-423C-A18A-F912D35E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143500" cy="28003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4B9B4-5AA1-40EB-8177-45E277C1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[CƠ CẤU PHẢN HỒI]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762000" y="3429000"/>
          <a:ext xmlns:a="http://schemas.openxmlformats.org/drawingml/2006/main" cx="4572000" cy="1905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d2d5ce0544d4c"/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C102C-6869-40C1-BA5B-C8B4BD7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76550"/>
            <a:ext cx="5257800" cy="28003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6F525-5252-4E59-AEB8-F54D392B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[CHỦ ĐỀ VOC NỔI BẬT]</a:t>
            </a:r>
          </a:p>
        </p:txBody>
      </p:sp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6096000" y="3429000"/>
          <a:ext xmlns:a="http://schemas.openxmlformats.org/drawingml/2006/main" cx="46672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e4849413ab47ee"/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330D7-B3C8-4950-B01D-C76E05A7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2398245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b9e2fb1144d1b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4108CC-F06B-4A85-8B12-48EB2025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[HÀNH TRÌNH KHÁCH HÀNG / FUNNEL]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31D7F-EB2D-4527-8F27-A7D19F37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CUSTOMER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B1A63-605D-40BC-909D-F5D4A0D0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C308C-6DA2-47AD-BDCD-E653DBB0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8370C-605F-4768-92B8-412E2C1C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092A2-054A-42A1-8DC3-47E59663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81235"/>
                </a:solidFill>
              </a:defRPr>
            </a:pPr>
            <a:r>
              <a:rPr sz="2000" b="1">
                <a:solidFill>
                  <a:srgbClr val="081235"/>
                </a:solidFill>
              </a:rPr>
              <a:t>[MỤC TIÊU HÀNH TRÌNH]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6F6BF-74E8-4459-B76D-5C0778D9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95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ngắn mục tiêu, đối tượng và phạm vi đo lường]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BDD53-28EF-44EA-A935-D90421C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000125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81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694B9-6960-4BA0-B0CD-F505E623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692FE-B1A3-4AB1-91FE-296E5E6A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[NHẬN BIẾT]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AEB6D-F0EC-49B9-951F-94BF7008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50F28-AA55-4069-8D79-1A2A1BD6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81300"/>
            <a:ext cx="85725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71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0F949-486D-4D57-BD05-7EC2E77E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2417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93A82-D7A4-44FA-9749-29A32400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051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[TRUY CẬP]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FBD84-0859-4B2E-875A-AB253AC1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765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89DA8-D904-46E1-B93F-5A3E6125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09950"/>
            <a:ext cx="714375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15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4443B-6E3B-4D90-A375-AB794FF7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5282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A75D8-4B1B-4489-BD00-23FB9887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337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[BẮT ĐẦU]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DE4F6-E281-4D9A-8410-B0E15D25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98708-9368-4BB6-A5FE-773C9ECC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038600"/>
            <a:ext cx="57150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E9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C7CFC-2CBA-4EEE-87F1-EC807C9B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8147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F52E7-E95E-4EE3-B998-B2024F0D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1624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[HOÀN TẤT]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36131-1B25-4E83-A06E-5CFD6A17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338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4BD1C-F8D2-4775-BE04-DC54ACCB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67250"/>
            <a:ext cx="428625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2D7F8-2FCC-473D-8FB3-81D8117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012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171EDB"/>
                </a:solidFill>
              </a:defRPr>
            </a:pPr>
            <a:r>
              <a:rPr sz="1300" b="1">
                <a:solidFill>
                  <a:srgbClr val="171EDB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785FE-E253-4297-A8AE-DBBBFE71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910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[QUAY LẠI]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105246-42C8-4093-B53D-FBC5825A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00" b="1">
                <a:solidFill>
                  <a:srgbClr val="171EDB"/>
                </a:solidFill>
              </a:defRPr>
            </a:pPr>
            <a:r>
              <a:rPr sz="1900" b="1">
                <a:solidFill>
                  <a:srgbClr val="171EDB"/>
                </a:solidFill>
              </a:rPr>
              <a:t>[XX%]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5B127D-4FB6-47C6-B11D-BA86B2BB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F50912"/>
                </a:solidFill>
              </a:defRPr>
            </a:pPr>
            <a:r>
              <a:rPr sz="1300" b="1">
                <a:solidFill>
                  <a:srgbClr val="F50912"/>
                </a:solidFill>
              </a:rPr>
              <a:t>[ĐIỂM RƠI LỚN NHẤT]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6E1BE4-BB9F-4D60-B577-F36BB44D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721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[NGUYÊN NHÂN]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738462-ABD5-46DF-B3A3-FB273236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6478714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74afe48bc4dc4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8ADEA3-915A-4706-93E4-005FF428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[VẤN ĐỀ → DỮ LIỆU → GIẢI PHÁP]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2C5F3-4086-496A-9129-07E0D324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STRUCTURED 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61373-D8A5-4E00-8888-002E0634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7FF72-0ECC-4344-BA8A-81AEB31E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BD2BA-B552-481A-862D-B25F9213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239DD-0F2A-4B39-899C-87795435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3429000" cy="37528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50912">
                <a:alpha val="26667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C2A2E-D09D-4020-8CCB-01F5143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66850"/>
            <a:ext cx="3429000" cy="37528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9525">
            <a:solidFill>
              <a:srgbClr val="171EDB">
                <a:alpha val="2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A4779-0282-4EAE-B869-20274A12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429000" cy="37528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0E9F6E">
                <a:alpha val="26667"/>
              </a:srgbClr>
            </a:solidFill>
            <a:prstDash val="solid"/>
          </a:ln>
        </p:spPr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62400" y="3343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1A8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96200" y="3343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1A8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8FA93-8922-4005-9FD3-FB73FF32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F50912"/>
                </a:solidFill>
              </a:defRPr>
            </a:pPr>
            <a:r>
              <a:rPr sz="2000" b="1">
                <a:solidFill>
                  <a:srgbClr val="F50912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A95C3-5B18-42DC-A426-E6A9969B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[VẤN ĐỀ]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6E86E-D0B7-48F4-8AD4-8465307A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95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vấn đề, đối tượng bị ảnh hưởng và bối cảnh]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BCF75-E273-4001-9B04-B8A59758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0912"/>
                </a:solidFill>
              </a:defRPr>
            </a:pPr>
            <a:r>
              <a:rPr sz="1200" b="1">
                <a:solidFill>
                  <a:srgbClr val="F50912"/>
                </a:solidFill>
              </a:rPr>
              <a:t>[NGUYÊN NHÂN]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7209A-56AE-47D2-B284-C73E1FE5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171EDB"/>
                </a:solidFill>
              </a:defRPr>
            </a:pPr>
            <a:r>
              <a:rPr sz="2000" b="1">
                <a:solidFill>
                  <a:srgbClr val="171EDB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20BFA-6EEC-4EEA-85CD-D0B27D90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[SỐ LIỆU CHỨNG MINH]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2CEEC-1582-4D5F-9E52-1555EA89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295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EDB"/>
                </a:solidFill>
              </a:defRPr>
            </a:pPr>
            <a:r>
              <a:rPr sz="2400" b="1">
                <a:solidFill>
                  <a:srgbClr val="171EDB"/>
                </a:solidFill>
              </a:rPr>
              <a:t>[XX%]</a:t>
            </a:r>
          </a:p>
          <a:p xmlns:a="http://schemas.openxmlformats.org/drawingml/2006/main">
            <a:pPr algn="l">
              <a:defRPr sz="2400" b="1">
                <a:solidFill>
                  <a:srgbClr val="171EDB"/>
                </a:solidFill>
              </a:defRPr>
            </a:pPr>
            <a:r>
              <a:rPr sz="2400" b="1">
                <a:solidFill>
                  <a:srgbClr val="171EDB"/>
                </a:solidFill>
              </a:rPr>
              <a:t>[INSIGHT TỪ DỮ LIỆU]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33D40-1188-4C32-9D3C-2AB7983C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67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Dữ liệu minh họa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26FF7-7CC9-4A9A-B4D4-2D12B489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E9F6E"/>
                </a:solidFill>
              </a:defRPr>
            </a:pPr>
            <a:r>
              <a:rPr sz="2000" b="1">
                <a:solidFill>
                  <a:srgbClr val="0E9F6E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84FC5-46B0-411F-9D1F-CDE18CA7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[GIẢI PHÁP]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1654F-E913-47C1-99BD-B5F1C4BA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95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giải pháp, tác động kỳ vọng và bước tiếp theo]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8DD95-A67E-412A-A88D-0515395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67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F6E"/>
                </a:solidFill>
              </a:defRPr>
            </a:pPr>
            <a:r>
              <a:rPr sz="1200" b="1">
                <a:solidFill>
                  <a:srgbClr val="0E9F6E"/>
                </a:solidFill>
              </a:rPr>
              <a:t>[HÀNH ĐỘNG]</a:t>
            </a:r>
          </a:p>
        </p:txBody>
      </p:sp>
    </p:spTree>
    <p:extLst>
      <p:ext uri="{BB962C8B-B14F-4D97-AF65-F5344CB8AC3E}">
        <p14:creationId xmlns:p14="http://schemas.microsoft.com/office/powerpoint/2010/main" val="18904467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f7048e6e64d8d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665CF2-DB1D-4F4E-B427-02084E02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[QUY TRÌNH NGHIỆP VỤ NGÂN HÀNG]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B43B4-66C0-46A4-B46B-B0DA3C9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PROCESS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96C69-1507-4FCA-8729-8F09FEFD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A33D5-1F13-4129-9FF5-B6042547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C3839-41B1-483D-9EA7-0DA594A7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2E7A9-AF6E-4FEE-BD7C-BDB00F12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PHẠM VI QUY TRÌNH VÀ ĐIỂM BẮT ĐẦU / KẾT THÚC]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8C062-E289-4300-95C2-B829F781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8097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75AA7-5A7A-4F4C-8356-06AAA308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18097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3D014-ABE0-42EA-AC29-C71CCCE5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18097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9E923-9CE3-42F4-978B-E54D795A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43150"/>
            <a:ext cx="18097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8B25C-752F-432D-A35D-BDF7522C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8097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9525">
            <a:solidFill>
              <a:srgbClr val="171EDB"/>
            </a:solidFill>
            <a:prstDash val="solid"/>
          </a:ln>
        </p:spPr>
      </p: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30670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EDB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91050" y="30670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EDB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38950" y="30670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EDB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86850" y="30670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1EDB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3E10D-EE8C-4709-B282-75442E09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9D067-2DEF-45C3-ABE9-7179BA1D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235"/>
                </a:solidFill>
              </a:defRPr>
            </a:pPr>
            <a:r>
              <a:rPr sz="1800" b="1">
                <a:solidFill>
                  <a:srgbClr val="081235"/>
                </a:solidFill>
              </a:rPr>
              <a:t>[BƯỚC 01]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1A5C2-0E3B-47F6-944C-97F568F4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[KH / KÊNH]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93FBD-1B73-48D2-A4F8-C70823CD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12605A-33EE-4FA9-AD5B-3D7DF657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235"/>
                </a:solidFill>
              </a:defRPr>
            </a:pPr>
            <a:r>
              <a:rPr sz="1800" b="1">
                <a:solidFill>
                  <a:srgbClr val="081235"/>
                </a:solidFill>
              </a:rPr>
              <a:t>[BƯỚC 02]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27F69-51D1-4045-954C-C71642B0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90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[HỆ THỐNG]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9C6D4-3A28-4BBA-8F3C-8D0E907D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336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0D04B-64A5-4319-A793-FD3F3725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146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235"/>
                </a:solidFill>
              </a:defRPr>
            </a:pPr>
            <a:r>
              <a:rPr sz="1800" b="1">
                <a:solidFill>
                  <a:srgbClr val="081235"/>
                </a:solidFill>
              </a:rPr>
              <a:t>[BƯỚC 03]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EF920-77DD-47A6-9E34-B8A4E81E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90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[RM / ĐƠN VỊ]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8EA01F-5D1B-47F8-9FDE-2BDC4EB6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336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E3F6B8-F8DC-40B0-9EE1-77AACA65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1235"/>
                </a:solidFill>
              </a:defRPr>
            </a:pPr>
            <a:r>
              <a:rPr sz="1800" b="1">
                <a:solidFill>
                  <a:srgbClr val="081235"/>
                </a:solidFill>
              </a:rPr>
              <a:t>[BƯỚC 04]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A1311-C868-40B0-A2CF-0F375410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90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[KIỂM SOÁT]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6DBED-09B5-4243-8738-1E1642A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E9181F-99B3-4F9A-91BE-2BDC63D1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146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[KẾT QUẢ]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1B5E61-9D14-4FB4-877A-2C5B0D4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90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0">
                <a:solidFill>
                  <a:srgbClr val="FFFFFF">
                    <a:alpha val="80000"/>
                  </a:srgbClr>
                </a:solidFill>
              </a:rPr>
              <a:t>[HOÀN TẤT]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30C189-590F-46DE-97BE-A186351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10801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31F34C-0C6C-4C85-96A5-99EE1A74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71EDB"/>
                </a:solidFill>
              </a:defRPr>
            </a:pPr>
            <a:r>
              <a:rPr sz="1700" b="1">
                <a:solidFill>
                  <a:srgbClr val="171EDB"/>
                </a:solidFill>
              </a:rPr>
              <a:t>[ĐIỂM KIỂM SOÁT / SLA / RỦI RO]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70ADAD-7F2B-4922-ADC0-780E8D0B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1235"/>
                </a:solidFill>
              </a:defRPr>
            </a:pPr>
            <a:r>
              <a:rPr sz="1500" b="0">
                <a:solidFill>
                  <a:srgbClr val="081235"/>
                </a:solidFill>
              </a:rPr>
              <a:t>[Mô tả điểm kiểm soát, thời gian xử lý, điều kiện và ngoại lệ]</a:t>
            </a:r>
          </a:p>
        </p:txBody>
      </p:sp>
    </p:spTree>
    <p:extLst>
      <p:ext uri="{BB962C8B-B14F-4D97-AF65-F5344CB8AC3E}">
        <p14:creationId xmlns:p14="http://schemas.microsoft.com/office/powerpoint/2010/main" val="1153289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bda35864b4aa5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61DAD1-6027-47AD-A0E2-40AEE722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[MA TRẬN RỦI RO / HEATMAP]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6BB2-E187-4792-A7FC-3E3E157D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RISK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9EA75-45A5-4232-9603-339DBDEA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2EF4D-A34A-43A6-B7AC-28FC4894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C9AF5-4A10-46C4-B655-9FC9AC9B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8B41C-9AC5-412B-9121-47CA9131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200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TÁC ĐỘNG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A1C2E-BB72-42E0-B167-9CDCF9EC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52450" y="2952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XÁC SUẤT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1676400" y="1466850"/>
          <a:ext xmlns:a="http://schemas.openxmlformats.org/drawingml/2006/main" cx="68580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82615"/>
                <a:gridCol w="1318846"/>
                <a:gridCol w="1318846"/>
                <a:gridCol w="1318846"/>
                <a:gridCol w="1318846"/>
              </a:tblGrid>
              <a:tr h="7772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1 — Thấp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4 — Cao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4 — Cao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A6500"/>
                          </a:solidFill>
                        </a:rPr>
                        <a:t>R4</a:t>
                      </a:r>
                    </a:p>
                  </a:txBody>
                  <a:tcPr marL="91440" marR="91440" marT="45720" marB="45720">
                    <a:solidFill>
                      <a:srgbClr val="FFF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A6500"/>
                          </a:solidFill>
                        </a:rPr>
                        <a:t>R5</a:t>
                      </a:r>
                    </a:p>
                  </a:txBody>
                  <a:tcPr marL="91440" marR="91440" marT="45720" marB="45720">
                    <a:solidFill>
                      <a:srgbClr val="FFF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50912"/>
                          </a:solidFill>
                        </a:rPr>
                        <a:t>R7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50912"/>
                          </a:solidFill>
                        </a:rPr>
                        <a:t>R9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E9F6E"/>
                          </a:solidFill>
                        </a:rPr>
                        <a:t>R3</a:t>
                      </a:r>
                    </a:p>
                  </a:txBody>
                  <a:tcPr marL="91440" marR="91440" marT="45720" marB="45720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A6500"/>
                          </a:solidFill>
                        </a:rPr>
                        <a:t>R4</a:t>
                      </a:r>
                    </a:p>
                  </a:txBody>
                  <a:tcPr marL="91440" marR="91440" marT="45720" marB="45720">
                    <a:solidFill>
                      <a:srgbClr val="FFF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A6500"/>
                          </a:solidFill>
                        </a:rPr>
                        <a:t>R6</a:t>
                      </a:r>
                    </a:p>
                  </a:txBody>
                  <a:tcPr marL="91440" marR="91440" marT="45720" marB="45720">
                    <a:solidFill>
                      <a:srgbClr val="FFF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50912"/>
                          </a:solidFill>
                        </a:rPr>
                        <a:t>R8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E9F6E"/>
                          </a:solidFill>
                        </a:rPr>
                        <a:t>R2</a:t>
                      </a:r>
                    </a:p>
                  </a:txBody>
                  <a:tcPr marL="91440" marR="91440" marT="45720" marB="45720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E9F6E"/>
                          </a:solidFill>
                        </a:rPr>
                        <a:t>R3</a:t>
                      </a:r>
                    </a:p>
                  </a:txBody>
                  <a:tcPr marL="91440" marR="91440" marT="45720" marB="45720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A6500"/>
                          </a:solidFill>
                        </a:rPr>
                        <a:t>R5</a:t>
                      </a:r>
                    </a:p>
                  </a:txBody>
                  <a:tcPr marL="91440" marR="91440" marT="45720" marB="45720">
                    <a:solidFill>
                      <a:srgbClr val="FFF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A6500"/>
                          </a:solidFill>
                        </a:rPr>
                        <a:t>R7</a:t>
                      </a:r>
                    </a:p>
                  </a:txBody>
                  <a:tcPr marL="91440" marR="91440" marT="45720" marB="45720">
                    <a:solidFill>
                      <a:srgbClr val="FFF6D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1 — Thấp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E9F6E"/>
                          </a:solidFill>
                        </a:rPr>
                        <a:t>R1</a:t>
                      </a:r>
                    </a:p>
                  </a:txBody>
                  <a:tcPr marL="91440" marR="91440" marT="45720" marB="45720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E9F6E"/>
                          </a:solidFill>
                        </a:rPr>
                        <a:t>R2</a:t>
                      </a:r>
                    </a:p>
                  </a:txBody>
                  <a:tcPr marL="91440" marR="91440" marT="45720" marB="45720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E9F6E"/>
                          </a:solidFill>
                        </a:rPr>
                        <a:t>R3</a:t>
                      </a:r>
                    </a:p>
                  </a:txBody>
                  <a:tcPr marL="91440" marR="91440" marT="45720" marB="45720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9A6500"/>
                          </a:solidFill>
                        </a:rPr>
                        <a:t>R4</a:t>
                      </a:r>
                    </a:p>
                  </a:txBody>
                  <a:tcPr marL="91440" marR="91440" marT="45720" marB="45720">
                    <a:solidFill>
                      <a:srgbClr val="FFF6D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B5FE7-DF70-449F-AEE5-AB6771D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266950" cy="38862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19D57-9815-4734-B26A-056B5A27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[RỦI RO ƯU TIÊN]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B9A2A-C300-4BCE-94AA-96B30E9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1C497-3720-4A30-AB8E-ED6377E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95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F50912"/>
                </a:solidFill>
              </a:defRPr>
            </a:pPr>
            <a:r>
              <a:rPr sz="1100" b="1">
                <a:solidFill>
                  <a:srgbClr val="F50912"/>
                </a:solidFill>
              </a:rPr>
              <a:t>R9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C228C-EC20-43AB-A569-5CD324B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[RỦI RO 01]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2CE6E-6E7D-4CA0-A9E2-0B942DEC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0">
            <a:solidFill>
              <a:srgbClr val="FFF6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F3668-E341-465D-A6D7-E5B3EC1F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9A6500"/>
                </a:solidFill>
              </a:defRPr>
            </a:pPr>
            <a:r>
              <a:rPr sz="1100" b="1">
                <a:solidFill>
                  <a:srgbClr val="9A6500"/>
                </a:solidFill>
              </a:rPr>
              <a:t>R8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A4681-E8C9-4816-B581-B473A3D9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[RỦI RO 02]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69616-B569-4A23-8503-2089F1A7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51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0">
            <a:solidFill>
              <a:srgbClr val="FFF6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0CA0E-79B1-4975-B376-6E654ED1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9A6500"/>
                </a:solidFill>
              </a:defRPr>
            </a:pPr>
            <a:r>
              <a:rPr sz="1100" b="1">
                <a:solidFill>
                  <a:srgbClr val="9A6500"/>
                </a:solidFill>
              </a:rPr>
              <a:t>R7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92802-A956-45CF-8A40-F1D715B1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290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[RỦI RO 03]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02ACF-1D84-4497-B427-8B351A02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86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171EDB"/>
                </a:solidFill>
              </a:defRPr>
            </a:pPr>
            <a:r>
              <a:rPr sz="1300" b="1">
                <a:solidFill>
                  <a:srgbClr val="171EDB"/>
                </a:solidFill>
              </a:rPr>
              <a:t>[BIỆN PHÁP KIỂM SOÁT]</a:t>
            </a:r>
          </a:p>
        </p:txBody>
      </p:sp>
    </p:spTree>
    <p:extLst>
      <p:ext uri="{BB962C8B-B14F-4D97-AF65-F5344CB8AC3E}">
        <p14:creationId xmlns:p14="http://schemas.microsoft.com/office/powerpoint/2010/main" val="8306200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d03d683904e06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41257D-67C2-48DA-B9A3-C533A646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[ROADMAP / KẾ HOẠCH TRIỂN KHAI]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DA683-F67F-4681-9DC9-E2422407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PROJECT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7D091-E027-4D45-BFDF-F1BC0E14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FFD61-F232-485D-AE80-8364A7FA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168FB-F267-49EB-8C0D-0C721533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9A545-C9AB-42A7-987C-C3F47CF9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[MỤC TIÊU ROADMAP VÀ PHẠM VI THỰC HIỆN]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A3A46-D38D-42F2-B3C8-3D90A3A3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D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98168-E324-40B0-B7D5-D76C2A5C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19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269B2-AE1B-44A7-9BD6-C80DE258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23241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9525">
            <a:solidFill>
              <a:srgbClr val="171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1AA79-A7D3-4860-88D5-C7FEA19E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GIAI ĐOẠN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2721E-9B29-4E46-AE18-73DD353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50912"/>
                </a:solidFill>
              </a:defRPr>
            </a:pPr>
            <a:r>
              <a:rPr sz="1100" b="1">
                <a:solidFill>
                  <a:srgbClr val="F50912"/>
                </a:solidFill>
              </a:rPr>
              <a:t>[THỜI GIAN]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9E1FB-4F7B-4F56-9531-F754A0EB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[MỤC TIÊU]</a:t>
            </a:r>
          </a:p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[HẠNG MỤC CHÍNH]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72D8F-0181-49F2-A2FD-E21A85AC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19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4971F-0861-4626-BE1D-95DCAF96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23241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0737C-8168-4292-B9C1-41F55299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909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GIAI ĐOẠN 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9852F-659E-486E-8FF5-CA9CCBD9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767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[THỜI GIAN]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9DBAA-3762-4378-ACDC-76174FF4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434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[MỤC TIÊU]</a:t>
            </a:r>
          </a:p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[HẠNG MỤC CHÍNH]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D202B-AC57-4172-8094-B097D30F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19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27E1C-E8E2-4431-BFB8-D164B746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23241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131C2-4AD8-440E-908B-74631439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GIAI ĐOẠN 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B4208-B7BE-49FF-9036-D6FEE75B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[THỜI GIAN]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ADCC71-A133-4176-AEF1-5BB3E2E6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[MỤC TIÊU]</a:t>
            </a:r>
          </a:p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[HẠNG MỤC CHÍNH]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F749F-E068-4D47-8490-826E1066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19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BD8A46-ECFD-41A7-9EFD-C0C49765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00450"/>
            <a:ext cx="23241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FDA16-AEE5-467A-B794-CDA6CFD3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GIAI ĐOẠN 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A69FC-B559-49F1-81BC-C4B244D3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[THỜI GIAN]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E0E4BA-1AF3-45A3-86C4-EB96DB9F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434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[MỤC TIÊU]</a:t>
            </a:r>
          </a:p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[HẠNG MỤC CHÍNH]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1B538-E8E1-47E5-9E83-3DB2ACDF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AA16A4-86D2-425E-BDB7-34329D5D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[MỐC QUYẾT ĐỊNH / PHỤ THUỘC QUAN TRỌNG]</a:t>
            </a:r>
          </a:p>
        </p:txBody>
      </p:sp>
    </p:spTree>
    <p:extLst>
      <p:ext uri="{BB962C8B-B14F-4D97-AF65-F5344CB8AC3E}">
        <p14:creationId xmlns:p14="http://schemas.microsoft.com/office/powerpoint/2010/main" val="15134374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225aed1ad4de9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C0665F-A71B-4347-9823-F1DF5D2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[TRÌNH BÀY SẢN PHẨM / GIAO DIỆN]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312A5-7425-48A2-9EC2-77585EE3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PRODUCT SHOWCASE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C546E-9369-4E14-847E-FAF26BC4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94EDE-CD26-4B82-B72F-A4B21F8F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AA50B-9346-4DD6-9DB0-1F5DE796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88F16-124D-44BF-B4C0-8D4F4119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1235"/>
                </a:solidFill>
              </a:defRPr>
            </a:pPr>
            <a:r>
              <a:rPr sz="2400" b="1">
                <a:solidFill>
                  <a:srgbClr val="081235"/>
                </a:solidFill>
              </a:rPr>
              <a:t>[TÊN SẢN PHẨM / TÍNH NĂNG]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68D1C-65B9-453D-A8F5-1B30B47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8A91A8"/>
                </a:solidFill>
              </a:defRPr>
            </a:pPr>
            <a:r>
              <a:rPr sz="1600" b="0">
                <a:solidFill>
                  <a:srgbClr val="8A91A8"/>
                </a:solidFill>
              </a:rPr>
              <a:t>[Mô tả ngắn bài toán, giá trị và đối tượng sử dụng]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D06D5-03C0-401E-AEDB-FC4B5F69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CBC81-1D3F-4100-8BC1-1AE5ACC3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0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[LỢI ÍCH 01]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57BD7-4C50-4196-9BDE-346B976D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08E59-24FE-4DDE-810D-6EB781B1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718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[LỢI ÍCH 02]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92177-867E-4EA3-80E8-5BA7B1F8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646EA-E970-463B-80BA-AEBE7071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43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[LỢI ÍCH 03]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FFD92-494F-4B33-8738-C380F03D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219200"/>
            <a:ext cx="5657850" cy="43434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64619-A754-406D-8D0F-D6A8652E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00200"/>
            <a:ext cx="34671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12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1BB8E-D29D-4C5E-AA48-5405C41F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00200"/>
            <a:ext cx="34671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48F93-A8FF-41B9-AD79-5D810506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A91A8"/>
                </a:solidFill>
              </a:defRPr>
            </a:pPr>
            <a:r>
              <a:rPr sz="1500" b="1">
                <a:solidFill>
                  <a:srgbClr val="8A91A8"/>
                </a:solidFill>
              </a:rPr>
              <a:t>[CHÈN UI WEB]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C5726-CB1A-4A6B-9F7D-DA40C51B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1200150" cy="2438400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12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A25E1-ADC5-4F27-A117-205FCC5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71700"/>
            <a:ext cx="47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CA71C-DA2F-4562-BF4E-56806B84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813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91A8"/>
                </a:solidFill>
              </a:defRPr>
            </a:pPr>
            <a:r>
              <a:rPr sz="1200" b="1">
                <a:solidFill>
                  <a:srgbClr val="8A91A8"/>
                </a:solidFill>
              </a:rPr>
              <a:t>[UI APP]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978CB-2537-4A18-B4E7-4A128E8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5775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171EDB"/>
                </a:solidFill>
              </a:defRPr>
            </a:pPr>
            <a:r>
              <a:rPr sz="1300" b="1">
                <a:solidFill>
                  <a:srgbClr val="171EDB"/>
                </a:solidFill>
              </a:rPr>
              <a:t>[CHÚ THÍCH MÀN HÌNH / FLOW]</a:t>
            </a:r>
          </a:p>
        </p:txBody>
      </p:sp>
    </p:spTree>
    <p:extLst>
      <p:ext uri="{BB962C8B-B14F-4D97-AF65-F5344CB8AC3E}">
        <p14:creationId xmlns:p14="http://schemas.microsoft.com/office/powerpoint/2010/main" val="12506051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13607bcf5443b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8A457E-8978-46D5-A394-F5D92BF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[TỔNG QUAN DỰ ÁN / CASE STUDY]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D11C3-1070-486A-A474-3FB5AFBF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ADE87-EE9C-42E5-8161-697B6CB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55F40-8B61-41BD-9968-76AD0E4F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7DE73-9C8B-438D-A287-73572D82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1B081-73A4-46DF-986E-334E6B74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50482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11430">
            <a:solidFill>
              <a:srgbClr val="8A91A8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E42B5-DCB2-46B4-898A-C026970A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A91A8"/>
                </a:solidFill>
              </a:defRPr>
            </a:pPr>
            <a:r>
              <a:rPr sz="1500" b="1">
                <a:solidFill>
                  <a:srgbClr val="8A91A8"/>
                </a:solidFill>
              </a:rPr>
              <a:t>[CHÈN KEY VISUAL / MOCKUP]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AA774-8537-4B3C-9084-36890CC9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295400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1235"/>
                </a:solidFill>
              </a:defRPr>
            </a:pPr>
            <a:r>
              <a:rPr sz="3000" b="1">
                <a:solidFill>
                  <a:srgbClr val="081235"/>
                </a:solidFill>
              </a:rPr>
              <a:t>[TÊN DỰ ÁN]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0EA2A-F9DC-4666-930F-201A5D1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669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8A91A8"/>
                </a:solidFill>
              </a:defRPr>
            </a:pPr>
            <a:r>
              <a:rPr sz="1700" b="0">
                <a:solidFill>
                  <a:srgbClr val="8A91A8"/>
                </a:solidFill>
              </a:rPr>
              <a:t>[MÔ TẢ DỰ ÁN TRONG 1–2 CÂU]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814EB-926F-408A-80ED-D142D42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81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[VAI TRÒ]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7D126-7534-4FEF-82E6-1BBE165E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[NỘI DUNG]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1001A-2D49-4671-9540-22682881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05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1868C-4ADF-407D-A5AA-29ADB9E4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[THỜI GIAN]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BB111-A824-448D-8214-1538C4CB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[NỘI DUNG]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F66BB-785A-437D-A713-B436AD6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004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CF7B2-E5F2-4A7A-87D5-2FDAFBB9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71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[PHẠM VI]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2673C-89FA-4322-AFC9-F4EEDBA4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33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[NỘI DUNG]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6A35F-0542-4A6F-875C-B8EE9214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37A2F-D993-4CF7-A629-D3791136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[ĐỐI TƯỢNG]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00A7F-4BC1-439B-884D-741E9BE6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29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[NỘI DUNG]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187B9-6786-4C91-A0D9-D1115519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910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4B0D3-A201-4DE3-B710-F618928C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3429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DBA3A6-073A-4EBC-968A-40D413C3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171EDB"/>
                </a:solidFill>
              </a:defRPr>
            </a:pPr>
            <a:r>
              <a:rPr sz="1300" b="1">
                <a:solidFill>
                  <a:srgbClr val="171EDB"/>
                </a:solidFill>
              </a:rPr>
              <a:t>[BÀI TOÁN]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C22E45-912B-4C81-A6BD-5816FADA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[MÔ TẢ NGẮN]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553B9-984D-4676-B1EA-8917A4A9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24400"/>
            <a:ext cx="3429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DE5AD0-1796-4034-ABAB-20B008BC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76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171EDB"/>
                </a:solidFill>
              </a:defRPr>
            </a:pPr>
            <a:r>
              <a:rPr sz="1300" b="1">
                <a:solidFill>
                  <a:srgbClr val="171EDB"/>
                </a:solidFill>
              </a:rPr>
              <a:t>[GIẢI PHÁP]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873779-852F-453C-8B44-ED351A5A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38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081235"/>
                </a:solidFill>
              </a:defRPr>
            </a:pPr>
            <a:r>
              <a:rPr sz="1600" b="0">
                <a:solidFill>
                  <a:srgbClr val="081235"/>
                </a:solidFill>
              </a:rPr>
              <a:t>[MÔ TẢ NGẮN]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C319DD-A91B-4F47-9E8E-B17560A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3429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9525">
            <a:solidFill>
              <a:srgbClr val="0812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2CCD27-71A9-472C-8C28-BE6516EC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76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[KẾT QUẢ]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3BB888-46D0-4FA6-87F0-3B223D39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[XX% / XXX]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87BE52-7E4C-46E8-A751-153CA7B6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475298585"/>
      </p:ext>
    </p:extLst>
  </p:cSld>
</p:sld>
</file>

<file path=ppt/slides/slide2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235"/>
            </a:gs>
            <a:gs pos="62000">
              <a:srgbClr val="171EDB"/>
            </a:gs>
            <a:gs pos="100000">
              <a:srgbClr val="3157F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279AD-6B99-4F3E-8067-DD66D8F3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5811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43cfce63f4ed9"/>
          <a:stretch xmlns:a="http://schemas.openxmlformats.org/drawingml/2006/main"/>
        </p:blipFill>
        <p:spPr>
          <a:xfrm xmlns:a="http://schemas.openxmlformats.org/drawingml/2006/main">
            <a:off x="685800" y="480199"/>
            <a:ext cx="1428750" cy="696951"/>
          </a:xfrm>
          <a:prstGeom xmlns:a="http://schemas.openxmlformats.org/drawingml/2006/main" prst="rect">
            <a:avLst/>
          </a:prstGeom>
        </p:spPr>
      </p:pic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8D5EDF-D29A-4848-A2C9-E5DC319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[THÔNG ĐIỆP KẾT THÚC]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4D3C5D3-3648-46C5-A182-9D719B6C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85098"/>
                  </a:srgbClr>
                </a:solidFill>
              </a:defRPr>
            </a:pPr>
            <a:r>
              <a:rPr sz="1800" b="0">
                <a:solidFill>
                  <a:srgbClr val="FFFFFF">
                    <a:alpha val="85098"/>
                  </a:srgbClr>
                </a:solidFill>
              </a:rPr>
              <a:t>[THÔNG TIN LIÊN HỆ / BƯỚC TIẾP THEO]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E5D9C-462D-4DF4-B802-34E20F77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F50912"/>
                </a:solidFill>
              </a:defRPr>
            </a:pPr>
            <a:r>
              <a:rPr sz="2000" b="1">
                <a:solidFill>
                  <a:srgbClr val="F50912"/>
                </a:solidFill>
              </a:rPr>
              <a:t>CẢM 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DD53F-3DBA-4A32-B9D2-72599F91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F9970-81C8-4309-ABF4-6F19AB91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85098"/>
                  </a:srgbClr>
                </a:solidFill>
              </a:defRPr>
            </a:pPr>
            <a:r>
              <a:rPr sz="1500" b="0">
                <a:solidFill>
                  <a:srgbClr val="FFFFFF">
                    <a:alpha val="85098"/>
                  </a:srgbClr>
                </a:solidFill>
              </a:rPr>
              <a:t>[EMAIL]  •  [SỐ ĐIỆN THOẠI]  •  [ĐƠN VỊ]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5B451-B716-475A-A040-1B605FA1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85900"/>
            <a:ext cx="2362200" cy="34290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>
              <a:alpha val="5098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DB7D4-5D8D-4988-99D8-02F0E05C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[CHÈN QR /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HÌNH ẢNH]</a:t>
            </a:r>
          </a:p>
        </p:txBody>
      </p:sp>
    </p:spTree>
    <p:extLst>
      <p:ext uri="{BB962C8B-B14F-4D97-AF65-F5344CB8AC3E}">
        <p14:creationId xmlns:p14="http://schemas.microsoft.com/office/powerpoint/2010/main" val="2050899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8c3dc7ea24c48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E2CAEF-0CF8-4B46-8988-443FF2B8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[TIẾNG NÓI KHÁCH HÀNG]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B7FA5-5E1F-43FF-BBFB-E5F8068B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VOC VERBATIM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45808-BF37-42BD-89B7-5939B4A6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DE875-162B-4F4E-BF1A-A0B5786D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F51E4-1C9B-4A40-96F0-8BE3C84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18BF0-9DB3-4E1E-BC7D-D1EA14D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086600" cy="4305300"/>
          </a:xfrm>
          <a:prstGeom xmlns:a="http://schemas.openxmlformats.org/drawingml/2006/main" prst="roundRect">
            <a:avLst>
              <a:gd name="adj" fmla="val 3982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6A8A1-CAD2-4D55-87A6-C2A3F9C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95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800" b="1">
                <a:solidFill>
                  <a:srgbClr val="F50912"/>
                </a:solidFill>
              </a:defRPr>
            </a:pPr>
            <a:r>
              <a:rPr sz="6800" b="1">
                <a:solidFill>
                  <a:srgbClr val="F50912"/>
                </a:solidFill>
              </a:rPr>
              <a:t>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3FA42-F469-4EAE-AFE6-BB35703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FFFFFF"/>
                </a:solidFill>
              </a:defRPr>
            </a:pPr>
            <a:r>
              <a:rPr sz="2600" b="1">
                <a:solidFill>
                  <a:srgbClr val="FFFFFF"/>
                </a:solidFill>
              </a:rPr>
              <a:t>[TRÍCH DẪN NGUYÊN VĂN PHẢN HỒI CỦA KHÁCH HÀNG — NGẮN, CỤ THỂ VÀ THỂ HIỆN RÕ NHU CẦU]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0E930-AE1D-4255-BE76-668C33D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6304B-982B-41E6-A570-F1A29F40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FFFFFF">
                    <a:alpha val="80000"/>
                  </a:srgbClr>
                </a:solidFill>
              </a:defRPr>
            </a:pPr>
            <a:r>
              <a:rPr sz="1300" b="0">
                <a:solidFill>
                  <a:srgbClr val="FFFFFF">
                    <a:alpha val="80000"/>
                  </a:srgbClr>
                </a:solidFill>
              </a:rPr>
              <a:t>[PHÂN KHÚC KHÁCH HÀNG]  •  [KÊNH]  •  [THỜI ĐIỂM]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DF53E-AA0F-4C4D-8437-049009DA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[MÃ PHẢN HỒI / NGUỒN VOC]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901C0-646A-4BAB-98A5-A156D21A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57300"/>
            <a:ext cx="3238500" cy="43053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33B69-845F-434B-B2FC-77C0689C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04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BỐI CẢNH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30B14-9D39-492E-8A84-11647258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[CHỦ ĐỀ]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C3914-A0A0-42F1-978C-50CE99CB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479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[NỘI DUNG]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AE4D4-D08A-4AB7-A1F9-E24C59DB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28900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1916C-7BB4-48EF-BAEC-5D91434D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[MỨC ĐỘ]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38C07-2DCA-48C6-93EF-9AAB53AE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[ƯU TIÊN / TẦN SUẤT]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EF666-2E09-49D6-9AF0-32DDA3C6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808AB-DDAA-43DA-9A5A-68B70451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480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[TÁC ĐỘNG]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479AB-B4D8-4178-9A9A-EDF0CE4D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81235"/>
                </a:solidFill>
              </a:defRPr>
            </a:pPr>
            <a:r>
              <a:rPr sz="1600" b="1">
                <a:solidFill>
                  <a:srgbClr val="081235"/>
                </a:solidFill>
              </a:rPr>
              <a:t>[MÔ TẢ NGẮN]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52086-A643-46F3-92B2-D2CA2A25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1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6FDF5-1009-4422-83BB-D538EB9E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929F8-342D-4E74-A256-D6B7CE7E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910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[THEME 01]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3DDC7-0407-47B8-BACC-44040B1B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434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5F4"/>
          </a:solidFill>
          <a:ln xmlns:a="http://schemas.openxmlformats.org/drawingml/2006/main" w="0">
            <a:solidFill>
              <a:srgbClr val="F3F5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15763-FD8D-4D78-BBF3-29AC8A51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910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5D6478"/>
                </a:solidFill>
              </a:defRPr>
            </a:pPr>
            <a:r>
              <a:rPr sz="1100" b="1">
                <a:solidFill>
                  <a:srgbClr val="5D6478"/>
                </a:solidFill>
              </a:rPr>
              <a:t>[THEME 02]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EA9C54-8452-4EB3-AA10-74EBF94A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50912"/>
                </a:solidFill>
              </a:defRPr>
            </a:pPr>
            <a:r>
              <a:rPr sz="1400" b="1">
                <a:solidFill>
                  <a:srgbClr val="F50912"/>
                </a:solidFill>
              </a:rPr>
              <a:t>[INSIGHT / CÂU HỎI CẦN GIẢI QUYẾT]</a:t>
            </a:r>
          </a:p>
        </p:txBody>
      </p:sp>
    </p:spTree>
    <p:extLst>
      <p:ext uri="{BB962C8B-B14F-4D97-AF65-F5344CB8AC3E}">
        <p14:creationId xmlns:p14="http://schemas.microsoft.com/office/powerpoint/2010/main" val="313679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d22ba2cd8450b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147282-E7C2-4D44-81BC-C5449B3F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[DỮ LIỆU → INSIGHT → HÀNH ĐỘNG]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AE06C-1564-44ED-9A2D-A6F4223C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INSIGHT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04808-D866-414F-BC7E-B8F66C91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BF319-BF78-4793-97C7-1A940ECE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A9B7D-502A-476D-B470-8866745C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DE36D-28F8-48BE-B68A-ECBB7F42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670560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54C37-FE0F-4EBE-AFD5-3B43E24E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[CHỈ SỐ CẦN PHÂN TÍCH]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781050" y="1943100"/>
          <a:ext xmlns:a="http://schemas.openxmlformats.org/drawingml/2006/main" cx="60579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ef9cae7c364f8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4FAE2-8255-4064-88BF-BB042D8E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95400"/>
            <a:ext cx="35814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9525">
            <a:solidFill>
              <a:srgbClr val="E9E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9E2C2-0E8D-4BA7-9563-BB216E27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5E182-DA26-42A8-B7DC-35178245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573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[INSIGHT TỪ DỮ LIỆU]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803B7-7D1D-48A5-9979-0AB594ED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62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[MÔ TẢ NGẮN GỌN, CÓ THỂ HÀNH ĐỘNG]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88786-719A-488C-AD6E-DBF436A6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05100"/>
            <a:ext cx="35814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9525">
            <a:solidFill>
              <a:srgbClr val="0812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CCC6F-6266-4EF3-8973-B090C4E0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76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3E22B-8152-4F46-B407-9DCE7CA2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670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[HÀM Ý KINH DOANH]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007BC-9FE5-4F42-BF98-DD0BC107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718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FFFFFF">
                    <a:alpha val="80000"/>
                  </a:srgbClr>
                </a:solidFill>
              </a:defRPr>
            </a:pPr>
            <a:r>
              <a:rPr sz="1300" b="0">
                <a:solidFill>
                  <a:srgbClr val="FFFFFF">
                    <a:alpha val="80000"/>
                  </a:srgbClr>
                </a:solidFill>
              </a:rPr>
              <a:t>[MÔ TẢ NGẮN GỌN, CÓ THỂ HÀNH ĐỘNG]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B556D-83F0-4F49-A1FA-97A665C1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14800"/>
            <a:ext cx="35814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9B7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27997-F2A2-495B-BBE3-BAEB83E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50912"/>
                </a:solidFill>
              </a:defRPr>
            </a:pPr>
            <a:r>
              <a:rPr sz="1600" b="1">
                <a:solidFill>
                  <a:srgbClr val="F50912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C2D75-D578-40CC-A845-44098C14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767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[HÀNH ĐỘNG ĐỀ XUẤT]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E03B2-4F53-4C3F-A2DD-43CB984A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815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[MÔ TẢ NGẮN GỌN, CÓ THỂ HÀNH ĐỘNG]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692DFE-6409-4167-8F07-3E5EEE2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8786648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3e2251fdf4d30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09D44A-C6E4-4D91-93F8-815D3438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[TỔNG QUAN BẢNG CÂN ĐỐI]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AED76-38B7-437F-AF5D-862447FD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BALANCE SHEET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18905-A3E8-445A-96D2-3532307E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B133F-B7E3-43EE-B9FF-C8A94E51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ECBA2-4858-410F-90B1-B8F9CB0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03D08-3899-40DC-9527-72769D9D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DA86E-AC80-4DB1-B61F-3049BC09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>
                    <a:alpha val="72157"/>
                  </a:srgbClr>
                </a:solidFill>
              </a:defRPr>
            </a:pPr>
            <a:r>
              <a:rPr sz="1300" b="1">
                <a:solidFill>
                  <a:srgbClr val="FFFFFF">
                    <a:alpha val="72157"/>
                  </a:srgbClr>
                </a:solidFill>
              </a:rPr>
              <a:t>[TỔNG TÀI SẢN]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6BABD-F1E9-4E4B-AF29-DC527B38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342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[XXX TỶ VND]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264B9-31F5-42EF-9973-9F095A1B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[TĂNG TRƯỞNG]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2DB35-F48D-4057-A667-BC235DC2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FFFFFF"/>
                </a:solidFill>
              </a:defRPr>
            </a:pPr>
            <a:r>
              <a:rPr sz="23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ADB01-4487-4887-AD4D-D384C15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[ROA]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06D3A-69E0-4B12-964D-53094BC9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145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C9D1FF"/>
                </a:solidFill>
              </a:defRPr>
            </a:pPr>
            <a:r>
              <a:rPr sz="2300" b="1">
                <a:solidFill>
                  <a:srgbClr val="C9D1FF"/>
                </a:solidFill>
              </a:rPr>
              <a:t>[X.X%]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D0E26-B930-417D-B29C-DAA93E8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[ĐÒN BẨY]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AC14E-9ED1-4E38-A82E-D762A3A9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C9D1FF"/>
                </a:solidFill>
              </a:defRPr>
            </a:pPr>
            <a:r>
              <a:rPr sz="2300" b="1">
                <a:solidFill>
                  <a:srgbClr val="C9D1FF"/>
                </a:solidFill>
              </a:rPr>
              <a:t>[X.Xx]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D7B4F-9C6E-4DE1-951E-BB40D54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4673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F792D-7568-4A2D-9630-4378377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TÀI SẢN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72DEB-A1F4-411F-81ED-F0FD57FF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28900"/>
            <a:ext cx="1657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00" b="1">
                <a:solidFill>
                  <a:srgbClr val="171EDB"/>
                </a:solidFill>
              </a:defRPr>
            </a:pPr>
            <a:r>
              <a:rPr sz="2000" b="1">
                <a:solidFill>
                  <a:srgbClr val="171EDB"/>
                </a:solidFill>
              </a:rPr>
              <a:t>[XXX TỶ]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1D1B6-9DCD-499F-9E14-798608CC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[CHO VAY]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F923C-D0E4-4734-A3FF-B82185A2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[62%]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3E319-0B3D-432B-9E13-67A6767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4914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9918F-C5FC-4807-8CA4-A9F67EDC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304723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5585E-013E-49DD-9495-AB0B34F8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[ĐẦU TƯ]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0B06C-3716-42AE-A356-40EA65C2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671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[22%]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155F24-3773-4151-8573-1750D4D5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914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578D3-A822-4308-B95C-1545D74D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08127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C103D-2436-456E-AFB7-BD9E9C89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[TÀI SẢN KHÁC]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F64B7-0CA0-4E8A-BB58-F87DF9C4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529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[16%]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17CFD-84CF-44AD-98E4-A42A4942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4914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C9A91A-079A-4D73-BD50-3DD8333D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78638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82F876-261E-4B56-B95C-78BB7549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54673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03C8AE-6275-4B24-93F8-D09EEEA0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NGUỒN VỐN &amp; VỐN CSH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75745-4E6B-4C1F-84F6-DFA4293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657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000" b="1">
                <a:solidFill>
                  <a:srgbClr val="171EDB"/>
                </a:solidFill>
              </a:defRPr>
            </a:pPr>
            <a:r>
              <a:rPr sz="2000" b="1">
                <a:solidFill>
                  <a:srgbClr val="171EDB"/>
                </a:solidFill>
              </a:rPr>
              <a:t>[XXX TỶ]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1C89B7-A63E-4660-BCF3-41448B42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[TIỀN GỬI]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ADE9CE-E538-4BC8-916B-E3A72A95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813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[68%]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2E6E21-F3D8-4285-A365-B51DB6E1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4914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261B3F-8685-4401-B766-2F523A6C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334213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AAAD78-09B2-4CA6-9DFB-58C77121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671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[VAY / GIẤY TỜ CÓ GIÁ]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97F5D8-9903-49DB-BD79-4AFCB266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671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[20%]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053464-6CFF-4974-A9D4-84BF9626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4914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CB645C-0462-4CFC-99B8-12E26C18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98298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D3ADEE-544F-475A-8EB8-7A1BD215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[VỐN CSH]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99C2F9-64A0-4FFC-A19B-C25AB369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529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[12%]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1B5EF7-FC64-4F56-A319-65FD9B04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38700"/>
            <a:ext cx="4914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D9A927-0275-4BE0-ADB2-F3BB8A27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38700"/>
            <a:ext cx="58978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AA0BEF-1B92-48C0-8FD9-F870CD24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4174209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c84bd6ff64e67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546228-E252-4DFF-B2E9-8243A7E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[CẦU NỐI P&amp;L / LỢI NHUẬN]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CA484-0976-45F6-987E-02F89B36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PROFIT &amp; LOSS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A53BF-F853-4366-9720-36216F0C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0F638-69B3-4AD1-91B3-84A3AFA1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C62FB-0B31-4D0A-96B1-2A149CAF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D5CE7-1FA9-4B19-872D-B2AA6D9A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81235"/>
                </a:solidFill>
              </a:defRPr>
            </a:pPr>
            <a:r>
              <a:rPr sz="1900" b="1">
                <a:solidFill>
                  <a:srgbClr val="081235"/>
                </a:solidFill>
              </a:rPr>
              <a:t>[INSIGHT TỪ BIẾN ĐỘNG LỢI NHUẬN]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27C35-01DD-4957-8B5E-7F23910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5D482-5D79-4C00-9313-1EF932C0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1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6CC05-2499-4685-B124-A675E021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669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1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92BAE-51D1-4478-8C73-03E5C032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52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1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D8894-ED67-4FFB-AA72-90718796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1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6470B-933D-4F86-90A6-5FC0D42A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86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1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D8F2B-DF89-4C6B-A044-C4AE95E6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295400" cy="15430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67A2F-F2DF-4BE5-BD65-99457987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[XXX]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274E2-2B66-4580-AFA5-40EB8580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[LN KỲ TRƯỚC]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DFE94-626F-46D9-898E-4579576C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8DE8E-2627-4E4B-A3AA-B8E69199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52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[+XX]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8C792-7474-42BC-9930-D5689667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[THU NHẬP LÃI]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A9376-56EC-4B60-B45C-BFB6B5A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1295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157F5"/>
          </a:solidFill>
          <a:ln xmlns:a="http://schemas.openxmlformats.org/drawingml/2006/main" w="0">
            <a:solidFill>
              <a:srgbClr val="3157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922EF-DC44-4521-BE95-133CB8AA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955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[+XX]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F5119-BA42-4CFF-A281-0C44A296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[THU NGOÀI LÃI]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472C69-AD6D-4611-A433-CBA8E052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295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D7988B-F530-4B85-984E-CD276E56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62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[-XX]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05478-D471-4EF0-B597-A2769F58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[OPEX]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96C4B-A094-46E8-8B3C-1E83843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1295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BCB914-BE93-4F9A-AF37-44231A57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00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[-XX]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4CCDF9-0939-4B5E-891E-7956D7F0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[DỰ PHÒNG]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38E7A-A2DD-406D-BAB1-6F694CB4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295400" cy="1885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69FBB-019E-4F0C-8541-49EC6F8D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[XXX]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D6BD9-D3AB-48C2-BF8C-9CE2D3A7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14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[LN KỲ NÀY]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66E2D2-22C5-4BF6-8D1C-890CA6F2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A2D4D1-C2F9-4C0D-88FB-08EAFE79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[ĐỘNG LỰC CHÍNH]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3A0D45-A8F2-419D-A41C-7EA02A5F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673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81235"/>
                </a:solidFill>
              </a:defRPr>
            </a:pPr>
            <a:r>
              <a:rPr sz="1500" b="0">
                <a:solidFill>
                  <a:srgbClr val="081235"/>
                </a:solidFill>
              </a:rPr>
              <a:t>[Giải thích yếu tố đóng góp lớn nhất và hàm ý cho kỳ tiếp theo]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4C2709-B86E-46A9-BEF8-446E4D93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3414481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12497c4e24f6c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273E98-2FFD-4515-ACDE-10FF7873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[TỔNG QUAN DÒNG TIỀN]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FF4F8-DAF6-4944-90BA-369B77C1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CASH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6F02A-8D8A-4E42-B111-F0E01AF3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E6145-DCD7-462E-9DAC-289927D5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8A50C-D3B7-4EF5-B4A4-FC6AD0BF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E3260-D713-47AA-9094-8EE9CBF1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342900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7B2F8-B325-4E41-ACDA-D8CCE7A0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E0210-54D4-4A86-B895-871D253F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DÒNG TIỀN KINH DOANH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CB3E0-C6A8-4D6A-A052-A38B85E5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71EDB"/>
                </a:solidFill>
              </a:defRPr>
            </a:pPr>
            <a:r>
              <a:rPr sz="2800" b="1">
                <a:solidFill>
                  <a:srgbClr val="171EDB"/>
                </a:solidFill>
              </a:rPr>
              <a:t>[+XXX TỶ]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59EEB-2915-4D3A-86C2-5E4C6E4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9185F-5413-43FB-B40A-B5BA8E7B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[NGUỒN THU / CHI CHÍNH]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94E02-F024-4843-8804-FB672EB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14450"/>
            <a:ext cx="342900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9525">
            <a:solidFill>
              <a:srgbClr val="0812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C6AA0-FC8F-40F7-9E47-08F911C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621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E16AF-E2B6-447E-B9B7-41AC87A7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DÒNG TIỀN ĐẦU TƯ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91A4D-8F5B-4E58-9E20-8753D1FD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FFFFFF"/>
                </a:solidFill>
              </a:defRPr>
            </a:pPr>
            <a:r>
              <a:rPr sz="2800" b="1">
                <a:solidFill>
                  <a:srgbClr val="FFFFFF"/>
                </a:solidFill>
              </a:rPr>
              <a:t>[-XXX TỶ]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664E8-E997-4CA2-8570-13C18F29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8A873-210C-42D9-8C34-0EABCD05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FFFFFF">
                    <a:alpha val="80000"/>
                  </a:srgbClr>
                </a:solidFill>
              </a:defRPr>
            </a:pPr>
            <a:r>
              <a:rPr sz="1300" b="0">
                <a:solidFill>
                  <a:srgbClr val="FFFFFF">
                    <a:alpha val="80000"/>
                  </a:srgbClr>
                </a:solidFill>
              </a:rPr>
              <a:t>[HẠNG MỤC ĐẦU TƯ CHÍNH]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C400E-C5C2-4FDA-BEDC-D00EE006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14450"/>
            <a:ext cx="342900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82BBB-478F-4144-8667-3CA14CCB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21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1C894-894A-43C2-9878-1F90AC84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DÒNG TIỀN TÀI CHÍNH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EF9CF-2EAC-4EA3-B319-B8E987DC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F50912"/>
                </a:solidFill>
              </a:defRPr>
            </a:pPr>
            <a:r>
              <a:rPr sz="2800" b="1">
                <a:solidFill>
                  <a:srgbClr val="F50912"/>
                </a:solidFill>
              </a:rPr>
              <a:t>[±XXX TỶ]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3C449-DFD3-40AE-9BEC-8E220734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7E119-B7B2-43EB-B4F8-76AF2A25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[HUY ĐỘNG / HOÀN TRẢ]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366CF-9D7C-42C7-9F2A-10B9119C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1125200" cy="1352550"/>
          </a:xfrm>
          <a:prstGeom xmlns:a="http://schemas.openxmlformats.org/drawingml/2006/main" prst="roundRect">
            <a:avLst>
              <a:gd name="adj" fmla="val 11268"/>
            </a:avLst>
          </a:prstGeom>
          <a:gradFill xmlns:a="http://schemas.openxmlformats.org/drawingml/2006/main">
            <a:gsLst>
              <a:gs pos="0">
                <a:srgbClr val="081235"/>
              </a:gs>
              <a:gs pos="100000">
                <a:srgbClr val="171EDB"/>
              </a:gs>
            </a:gsLst>
            <a:lin ang="5400000"/>
          </a:gra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72BC4-9238-4B75-8CC2-CA3697CC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>
                    <a:alpha val="72157"/>
                  </a:srgbClr>
                </a:solidFill>
              </a:defRPr>
            </a:pPr>
            <a:r>
              <a:rPr sz="1400" b="1">
                <a:solidFill>
                  <a:srgbClr val="FFFFFF">
                    <a:alpha val="72157"/>
                  </a:srgbClr>
                </a:solidFill>
              </a:rPr>
              <a:t>[TIỀN &amp; TƯƠNG ĐƯƠNG TIỀN CUỐI KỲ]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C0A4C9-6BA3-4429-9597-A5B194D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</a:rPr>
              <a:t>[XXX TỶ VND]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A919B-78EF-4244-BFA6-2B7CF1DD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[INSIGHT THANH KHOẢN]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8961B2-5484-4F9E-B395-18F41547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006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FFFFFF">
                    <a:alpha val="80000"/>
                  </a:srgbClr>
                </a:solidFill>
              </a:defRPr>
            </a:pPr>
            <a:r>
              <a:rPr sz="1400" b="0">
                <a:solidFill>
                  <a:srgbClr val="FFFFFF">
                    <a:alpha val="80000"/>
                  </a:srgbClr>
                </a:solidFill>
              </a:rPr>
              <a:t>[Mô tả nhu cầu vốn, điểm cần theo dõi và hành động]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5E09F-48C9-4FA0-ACD3-9CD829BF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6020804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226d776d44416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D020D1-0522-4330-8DD2-E8C28ED9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[HIỆU QUẢ THEO PHÂN KHÚC]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07931-6AAA-4978-8564-6CE2768D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SEGMENT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817D8-0858-496C-941E-08C0DF92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ED7A7-ED62-4B8D-B1F1-6A2B7992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BDA3A-6506-4518-965D-3DB7747E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71051-269C-4303-BA09-FA20CF4D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262890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22D45-CC12-4117-BA16-BD82A11B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[PHÂN KHÚC A]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A168C-333B-40F5-96BC-6C968DA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EDB"/>
                </a:solidFill>
              </a:defRPr>
            </a:pPr>
            <a:r>
              <a:rPr sz="2400" b="1">
                <a:solidFill>
                  <a:srgbClr val="171EDB"/>
                </a:solidFill>
              </a:rPr>
              <a:t>[XXX TỶ]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23A34-2C46-4E9D-996B-0176A344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[TIẾN ĐỘ]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1EB62-2674-443A-8850-3CA920CD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0505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[82%]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5F3CA-1DEA-4F01-A409-6F1FA13D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171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63EC5-8FD6-48EA-BA3A-19C2639A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780794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51F60-224F-4772-9007-81D7D0B4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295400"/>
            <a:ext cx="262890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A8165-5541-47B6-A964-A10583A0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668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[PHÂN KHÚC B]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DB9E2-C025-4F40-8094-1AE39A56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478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EDB"/>
                </a:solidFill>
              </a:defRPr>
            </a:pPr>
            <a:r>
              <a:rPr sz="2400" b="1">
                <a:solidFill>
                  <a:srgbClr val="171EDB"/>
                </a:solidFill>
              </a:rPr>
              <a:t>[XXX TỶ]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8B953-0008-4813-A947-99A045ED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[TIẾN ĐỘ]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19A8B-13BC-4229-9B1F-FE8EB789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0505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[68%]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73750-4D8E-41A5-B0DB-E018B0AA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2171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64871-2631-4B0B-AF66-03AEC289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1476756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547E8-7AFC-442A-BD51-AACB2B3C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262890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72EEE-C6DC-46C3-B980-D9D14369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[PHÂN KHÚC C]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75052-75D7-4E42-9B4E-45092452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EDB"/>
                </a:solidFill>
              </a:defRPr>
            </a:pPr>
            <a:r>
              <a:rPr sz="2400" b="1">
                <a:solidFill>
                  <a:srgbClr val="171EDB"/>
                </a:solidFill>
              </a:rPr>
              <a:t>[XXX TỶ]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D31F4-61B8-4B59-BBD7-D2980B30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[TIẾN ĐỘ]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23379-0602-4E93-9C54-8C537AEE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7195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[54%]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42BA7-8FC8-4B8B-91FD-4DADEF63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171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4B3AD-5CAD-4D9C-A95B-2B0A859F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172718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2196E-9C22-4991-AFAB-B88C37A4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62300"/>
            <a:ext cx="262890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B530C-A5AD-49A5-8606-BA373DB1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[PHÂN KHÚC D]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7202D-6483-4782-A5EA-304C84BF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EDB"/>
                </a:solidFill>
              </a:defRPr>
            </a:pPr>
            <a:r>
              <a:rPr sz="2400" b="1">
                <a:solidFill>
                  <a:srgbClr val="171EDB"/>
                </a:solidFill>
              </a:rPr>
              <a:t>[XXX TỶ]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B934E-4195-4414-A8E0-718AFBFE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910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[TIẾN ĐỘ]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C3021-8F20-4F73-BDBF-53B26ED9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66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[38%]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5B8CC0-8C36-4012-9A9C-3A858A1D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95800"/>
            <a:ext cx="2171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571F21-ADB9-4DA5-9455-F9F4392C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95800"/>
            <a:ext cx="825246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A9B5B7-5BC3-4D1B-9CC6-2AAB84E1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95400"/>
            <a:ext cx="4876800" cy="35052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02E7D8-0272-443D-A2BD-450B563D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[SO SÁNH ĐÓNG GÓP]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mlns:a="http://schemas.openxmlformats.org/drawingml/2006/main" x="6477000" y="1943100"/>
          <a:ext xmlns:a="http://schemas.openxmlformats.org/drawingml/2006/main" cx="4267200" cy="2438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d9db76c654481e"/>
          </a:graphicData>
        </a:graphic>
      </p:graphicFrame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0EA779-BE8D-4091-B291-2E3B3317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4876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63A19-1A2D-4E19-A7FD-4BC91EF1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[PHÂN KHÚC ƯU TIÊN]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31E0FD-C2F3-4BEA-BEBA-B8388A8A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[INSIGHT / HÀNH ĐỘNG]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EE248E-DB4C-4DB2-AF77-7325853A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90241331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28cd5d9b941ea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B976C7-D80C-48BB-BBCD-33976300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[HIỆU QUẢ THEO VÙNG / ĐƠN VỊ]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FC139-EDEC-467B-A1D2-B0FEFA2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REGION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03052-C261-4C1A-A4CD-97CB506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A578F-3728-4B4A-B74F-B13BD7CB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AE463-72A7-49E6-9BD1-5A4265B3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252CC-5310-49F4-8D15-0D291B07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676275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646DA-F6E8-4FDD-87BB-63ABEA00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XẾP HẠNG THEO [CHỈ SỐ]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6E83A-E202-4A9D-9B93-03276A59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50912"/>
                </a:solidFill>
              </a:defRPr>
            </a:pPr>
            <a:r>
              <a:rPr sz="1400" b="1">
                <a:solidFill>
                  <a:srgbClr val="F5091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2A891-0703-4E4A-A7DD-DB745786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3835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[VÙNG / ĐƠN VỊ A]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21144-7CFB-4AC2-A933-BAC455F0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EB4C8-6BBF-48AA-8826-3083DEB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76450"/>
            <a:ext cx="2628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52A0E-EA82-447E-A30E-B3ADB209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235"/>
                </a:solidFill>
              </a:defRPr>
            </a:pPr>
            <a:r>
              <a:rPr sz="1200" b="1">
                <a:solidFill>
                  <a:srgbClr val="081235"/>
                </a:solidFill>
              </a:rPr>
              <a:t>[92]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2B6F7-AA53-4681-AE48-E382340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71EDB"/>
                </a:solidFill>
              </a:defRPr>
            </a:pPr>
            <a:r>
              <a:rPr sz="1400" b="1">
                <a:solidFill>
                  <a:srgbClr val="171E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FA311-B81D-4E7D-ADEC-350845F7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[VÙNG / ĐƠN VỊ B]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67EC8-B4AB-4048-AC24-601E8294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876BC-071F-45B6-B46B-B0F7EB80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2286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3C4B9-37F1-4F19-9666-6F3B534A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235"/>
                </a:solidFill>
              </a:defRPr>
            </a:pPr>
            <a:r>
              <a:rPr sz="1200" b="1">
                <a:solidFill>
                  <a:srgbClr val="081235"/>
                </a:solidFill>
              </a:rPr>
              <a:t>[80]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3724C-E77C-43A3-A21E-F3262115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71EDB"/>
                </a:solidFill>
              </a:defRPr>
            </a:pPr>
            <a:r>
              <a:rPr sz="1400" b="1">
                <a:solidFill>
                  <a:srgbClr val="171EDB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E0E92-E5B5-4086-A2B8-DB760D5D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[VÙNG / ĐƠN VỊ C]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45A2F-4004-434B-A98C-8CF78A65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A32DF-63E3-402D-A80C-57F6634A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33750"/>
            <a:ext cx="18859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11D1D-CFC9-4771-9DB9-2CE60464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235"/>
                </a:solidFill>
              </a:defRPr>
            </a:pPr>
            <a:r>
              <a:rPr sz="1200" b="1">
                <a:solidFill>
                  <a:srgbClr val="081235"/>
                </a:solidFill>
              </a:rPr>
              <a:t>[66]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36CC7-EA8B-4A26-8608-98B3BEDC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71EDB"/>
                </a:solidFill>
              </a:defRPr>
            </a:pPr>
            <a:r>
              <a:rPr sz="1400" b="1">
                <a:solidFill>
                  <a:srgbClr val="171EDB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263DF-93AC-416E-8FAB-917A94C0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[VÙNG / ĐƠN VỊ D]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29A033-C4F0-4296-A861-C51CE361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6240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11F08-07F1-407B-A2FB-0C29C4F5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62400"/>
            <a:ext cx="1485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F799A9-1E3A-4AC8-BF1F-E88034E9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235"/>
                </a:solidFill>
              </a:defRPr>
            </a:pPr>
            <a:r>
              <a:rPr sz="1200" b="1">
                <a:solidFill>
                  <a:srgbClr val="081235"/>
                </a:solidFill>
              </a:rPr>
              <a:t>[52]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B99CAD-1C5B-4D67-AF54-73464AA4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71EDB"/>
                </a:solidFill>
              </a:defRPr>
            </a:pPr>
            <a:r>
              <a:rPr sz="1400" b="1">
                <a:solidFill>
                  <a:srgbClr val="171EDB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1D55A8-9C2E-441D-B190-B13148B5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[VÙNG / ĐƠN VỊ E]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0FFEED-31F0-4E02-8485-5A6FBD1C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91050"/>
            <a:ext cx="2857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61CA46-8A5B-4CB5-B5DC-41B8603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91050"/>
            <a:ext cx="1085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CC5042-2816-4BB1-870F-154EF93B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1235"/>
                </a:solidFill>
              </a:defRPr>
            </a:pPr>
            <a:r>
              <a:rPr sz="1200" b="1">
                <a:solidFill>
                  <a:srgbClr val="081235"/>
                </a:solidFill>
              </a:rPr>
              <a:t>[38]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8E4349-F629-4E48-9FF3-540724B1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95400"/>
            <a:ext cx="3562350" cy="43053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24953B-ED75-40EC-ADFE-82ED0DFF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43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71EDB"/>
                </a:solidFill>
              </a:defRPr>
            </a:pPr>
            <a:r>
              <a:rPr sz="1700" b="1">
                <a:solidFill>
                  <a:srgbClr val="171EDB"/>
                </a:solidFill>
              </a:rPr>
              <a:t>ĐIỂM NHẤN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4B6869-D3CA-4841-BD91-74FD5839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30670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F5F450-FDF2-4EA0-B876-07154683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[VÙNG DẪN ĐẦU]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172F5-A7FA-4BE6-9B03-869E52FD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81235"/>
                </a:solidFill>
              </a:defRPr>
            </a:pPr>
            <a:r>
              <a:rPr sz="1900" b="1">
                <a:solidFill>
                  <a:srgbClr val="081235"/>
                </a:solidFill>
              </a:rPr>
              <a:t>[XX% / XXX]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CA9DE-90BE-4F45-8F06-FAA52A9D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0670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CF9C6E-2F36-48C5-8823-1E6972F9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[VÙNG CẦN HỖ TRỢ]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FB11CB-176D-4147-9EE5-DBA8226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81235"/>
                </a:solidFill>
              </a:defRPr>
            </a:pPr>
            <a:r>
              <a:rPr sz="1900" b="1">
                <a:solidFill>
                  <a:srgbClr val="081235"/>
                </a:solidFill>
              </a:rPr>
              <a:t>[XX% / XXX]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6209F0-C197-491A-AEEF-2289F2F7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0670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26DD2E-E951-4CD3-831F-9272D2C8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[KHOẢNG CÁCH]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CAA0F5-91F5-45AF-AAE6-12877D9F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00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F50912"/>
                </a:solidFill>
              </a:defRPr>
            </a:pPr>
            <a:r>
              <a:rPr sz="1900" b="1">
                <a:solidFill>
                  <a:srgbClr val="F50912"/>
                </a:solidFill>
              </a:rPr>
              <a:t>[±XX%]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772362-2AD9-4200-A882-E9D43F3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[HÀNH ĐỘNG ĐIỀU PHỐI / HỖ TRỢ]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2AA670-910A-4167-90C6-0843BF8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3653088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f5abb9c0748a8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7B7E1F-149E-4895-9C5C-2D94C362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[DANH MỤC KHÁCH HÀNG CIB]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2BC23-8BFC-4A73-8E69-10C1A925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CIB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E5DB5-044A-4372-AC5E-ED4C8A76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C2CC5-BBCE-4E49-8DFA-EA7627A9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BAD27-8765-4589-9FC0-34C2317C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DF26F-78D8-4932-A458-9A9CBAAE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6572250" cy="40767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64195-934C-465C-BC72-758CF73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TIỀM NĂNG DOANH THU 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15545-178E-456E-A3E8-4A92DC4A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1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77689-7742-491D-80E4-E132A82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24050"/>
            <a:ext cx="1905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A91A8"/>
          </a:solidFill>
          <a:ln xmlns:a="http://schemas.openxmlformats.org/drawingml/2006/main" w="0">
            <a:solidFill>
              <a:srgbClr val="8A91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F6955-9250-417D-86C9-781FA38E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CAO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54F8E-7DC1-46D1-A56B-DBDC8BB6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MỨC ĐỘ GẮN KẾT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BFC60-9554-4576-BE83-19E02797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24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EDB">
              <a:alpha val="80000"/>
            </a:srgbClr>
          </a:solidFill>
          <a:ln xmlns:a="http://schemas.openxmlformats.org/drawingml/2006/main" w="9525">
            <a:solidFill>
              <a:srgbClr val="171E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7EC94-5CEE-4466-8AAD-B3B3442E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956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[KH A]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B1018-8774-438E-A250-9428726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19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235">
              <a:alpha val="80000"/>
            </a:srgbClr>
          </a:solidFill>
          <a:ln xmlns:a="http://schemas.openxmlformats.org/drawingml/2006/main" w="9525">
            <a:solidFill>
              <a:srgbClr val="0812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DE95F-D9D6-449D-870E-698B51A3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[KH B]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FE612-186A-4311-8AE8-8B205D9E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912">
              <a:alpha val="80000"/>
            </a:srgbClr>
          </a:solidFill>
          <a:ln xmlns:a="http://schemas.openxmlformats.org/drawingml/2006/main" w="9525">
            <a:solidFill>
              <a:srgbClr val="F509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D7DAF-CA16-4E00-8D6D-ECBD36E5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624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[KH C]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3B3D3-1286-4F45-9498-692C1364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95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5">
              <a:alpha val="80000"/>
            </a:srgbClr>
          </a:solidFill>
          <a:ln xmlns:a="http://schemas.openxmlformats.org/drawingml/2006/main" w="9525">
            <a:solidFill>
              <a:srgbClr val="3157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CAFE4-21CA-4875-9922-5DD840AD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434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[KH D]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D7133-CF43-450D-A1E2-86489A1B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244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KÍCH THƯỚC = [QUY MÔ / DƯ NỢ / DOANH THU]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3EF05-49CE-4241-A46A-68E90F9E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90650"/>
            <a:ext cx="3752850" cy="407670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CC96E-2D45-44A4-976B-79748A71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57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[KHÁCH HÀNG ƯU TIÊN]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1F6B7-2B43-4E3D-8261-121F6584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907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[DOANH THU]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1B906-63FB-40DA-97B8-25AADBF4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336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[XXX TỶ]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591A2D-DF53-4AB4-BA93-AE283CEF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863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709D4-6AAD-4579-933C-8AA2C502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[DƯ NỢ]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B5031-F5B2-4D77-A7B8-FEE6DDD4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[XXX TỶ]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3D107-32E3-4C59-A671-22BC2DC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86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EF937-D56A-41AD-BEEA-A2627E78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[SHARE OF WALLET]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57097B-C85E-44D2-BE2F-B5D816DA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A5EA04-5CBF-4EF2-B1AA-A86F7CC1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243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863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6C5D1A-B192-4D2D-80A2-9ED4F5C1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196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[CƠ HỘI CROSS-SELL / NEXT BEST ACTION]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BC7A4D-F4EB-45B0-8A48-E9E27CA6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28D1E5-F160-4899-9297-D4480539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387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F50912"/>
                </a:solidFill>
              </a:defRPr>
            </a:pPr>
            <a:r>
              <a:rPr sz="1100" b="1">
                <a:solidFill>
                  <a:srgbClr val="F50912"/>
                </a:solidFill>
              </a:rPr>
              <a:t>[ƯU TIÊN]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56C878-622F-4158-9CCD-01AAD57A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5785675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30bac520d4b39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BA5647-7D53-4255-8683-33B47639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[CHẤT LƯỢNG TÍN DỤNG]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0B606-4602-4A6F-88DD-432BE40D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ASSET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6D122-378D-42C5-A1E2-607A82B4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2EFD8-6357-45A1-891C-B4EF2F8B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FFE26-3F1A-4328-9EB3-E21877FC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41090-5624-4F29-B6ED-7DAA8BC9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C0ECC-F540-4352-A233-80517B5D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[DƯ NỢ]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73475-0B00-4737-861D-655732C3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[XXX TỶ]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24D76-49F5-4F39-9F1D-F8993526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[±XX% YoY]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1CCD4-2F97-4158-9705-7A4AE198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382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7DC60-4C7C-4C47-80B0-4E5FF36A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90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[NPL]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A062C-BA94-4672-AD11-BB964F3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[X.XX%]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73A22-1D04-451A-899C-50AF412A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812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0912"/>
                </a:solidFill>
              </a:defRPr>
            </a:pPr>
            <a:r>
              <a:rPr sz="1200" b="1">
                <a:solidFill>
                  <a:srgbClr val="F50912"/>
                </a:solidFill>
              </a:rPr>
              <a:t>[±X điểm %]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CE2CC-3183-4233-B46B-0E272305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2382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CCF67-4FCF-47B0-8467-9F35D79B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90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[LLR]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2525F-56A4-4371-8638-89146910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954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[XXX%]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26257-006A-4F06-9B58-822097D9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812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F6E"/>
                </a:solidFill>
              </a:defRPr>
            </a:pPr>
            <a:r>
              <a:rPr sz="1200" b="1">
                <a:solidFill>
                  <a:srgbClr val="0E9F6E"/>
                </a:solidFill>
              </a:rPr>
              <a:t>[±XX điểm %]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50B63-75FD-4007-A0C3-5549A38E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38250"/>
            <a:ext cx="2933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8F602-CED7-4302-A6A3-F544A6CD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906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[CHI PHÍ TÍN DỤNG]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912C9-1FE4-422D-A8B6-1B6DC7EF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[X.XX%]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5CB89-1E5D-4AAD-AAA9-9BC03B3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2590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[±X điểm %]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55A392-F2BA-48C0-A6A7-82BE189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6858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4201F-002C-49EF-967A-2F85CE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PHÂN BỔ THEO NHÓM NỢ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11E0D-26C8-4236-A2F8-576C770B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4814316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9132A-0FA6-4607-964E-DFFC3578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481431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[78%]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43B40-A046-47A6-9547-710BABC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316" y="3543300"/>
            <a:ext cx="864108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57F5"/>
          </a:solidFill>
          <a:ln xmlns:a="http://schemas.openxmlformats.org/drawingml/2006/main" w="0">
            <a:solidFill>
              <a:srgbClr val="3157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404A1-2FA4-476B-B012-2400D54D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316" y="3695700"/>
            <a:ext cx="86410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[14%]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E0A63-AABD-4E69-9D44-40CDD5EC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424" y="3543300"/>
            <a:ext cx="493776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694946-BE62-4858-8996-299FDCA0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5240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6524B-4C47-4B8C-BBCF-BF6E1F07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[NHÓM 1]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184DCF-9FDC-4F7D-B7D1-FE500593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62450"/>
            <a:ext cx="15240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7F5"/>
          </a:solidFill>
          <a:ln xmlns:a="http://schemas.openxmlformats.org/drawingml/2006/main" w="0">
            <a:solidFill>
              <a:srgbClr val="3157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D5310E-02B1-4B25-B449-4FA779B3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24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[NHÓM 2]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1BBAED-3585-4B9B-9AED-8E33C017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152400" cy="152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E7A44C-975D-4B37-9C49-DCB3C160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24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[NHÓM 3–5]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420927-BF92-4C8F-A0ED-A36D4EE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EDB"/>
                </a:solidFill>
              </a:defRPr>
            </a:pPr>
            <a:r>
              <a:rPr sz="1500" b="1">
                <a:solidFill>
                  <a:srgbClr val="171EDB"/>
                </a:solidFill>
              </a:rPr>
              <a:t>[INSIGHT VỀ DỊCH CHUYỂN NHÓM NỢ]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20A9ED-FDE8-41D7-9AD1-55C932A6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35052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B478E7-DDFE-478C-8355-04D6F2D1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RỦI RO CẦN THEO DÕI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825352-1443-4D41-ACDF-B556791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BE0BA6-B151-4807-82CD-70BC859A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528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F50912"/>
                </a:solidFill>
              </a:defRPr>
            </a:pPr>
            <a:r>
              <a:rPr sz="1100" b="1">
                <a:solidFill>
                  <a:srgbClr val="F50912"/>
                </a:solidFill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820804-7878-429A-AE9D-887DBCDA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337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[PHÂN KHÚC / NGÀNH]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4C1BF2-74DA-4F87-B5C7-235F58E1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0">
            <a:solidFill>
              <a:srgbClr val="FFF6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D6BAF2-A70A-4CE8-AF3A-9ACAB072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9A6500"/>
                </a:solidFill>
              </a:defRPr>
            </a:pPr>
            <a:r>
              <a:rPr sz="1100" b="1">
                <a:solidFill>
                  <a:srgbClr val="9A6500"/>
                </a:solidFill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83FE46-D873-471C-BF08-8A82B96E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243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[KHOẢN VAY / TÀI SẢN]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BE148C-E38A-49F4-AEF4-CD9A71AE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0091D2-0AE4-4D5B-B02F-C63E0427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339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F79DB8-7E13-4043-BB44-15135FB4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148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[DẤU HIỆU CẢNH BÁO]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61A363-A069-46E7-8A64-80184B23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4106037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ef75cc8c9464c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5A7C05-73E5-4F24-88DA-7F9B7AEC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[XU HƯỚNG QUÁ HẠN &amp; THU HỒI NỢ]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66B33-A75D-46D0-9B84-15B1029A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COLLECTIONS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CE174-9933-4340-8A7A-8DA44533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8F354-DAC9-4518-8BF3-1FDA2A13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65BFE-A4D0-40D1-946B-266FB85E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F0D3B-4A7E-4A79-B787-2E9044A2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7372350" cy="4210050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C31A5-27C4-4C3D-88CC-19CB034B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[TỶ LỆ QUÁ HẠN / TỶ LỆ THU HỒI]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800100" y="1943100"/>
          <a:ext xmlns:a="http://schemas.openxmlformats.org/drawingml/2006/main" cx="666750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53103c69c640b1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0427E-0B97-4569-B429-7222210A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95400"/>
            <a:ext cx="2952750" cy="42100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4C759-BD7D-43A5-A085-F921E287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621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AGING BUCKET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3C62F-6FDD-4206-A3A4-EFC5142E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[1–30 NGÀY]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B874A-BF84-4740-A0B1-9A80227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145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54D39-5472-44F3-87DC-1D25CE3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343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CFB65-8C60-4593-B7A7-3DE73F0A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1499616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7F5"/>
          </a:solidFill>
          <a:ln xmlns:a="http://schemas.openxmlformats.org/drawingml/2006/main" w="0">
            <a:solidFill>
              <a:srgbClr val="3157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72CBB-D67D-4A0D-B0BB-2EAB869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[31–60 NGÀY]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EA8A2-631E-4408-8CD7-922DB3C3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813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33A6C-C246-464F-A539-E56183D9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343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DFB70-3469-45E5-A2D8-DC66D06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984123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59007-CBC6-4E97-B442-10C252D7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[61–90 NGÀY]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FB269-36EA-4409-A214-CABCFE2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480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AFD07-0D38-4ABA-9C40-A505A56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343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E3C73-E344-4D4B-95FD-D2C179BE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609219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8DAAC-C851-41FD-BA17-29F30A2B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[&gt;90 NGÀY]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19DE10-3B93-4D0E-9DF8-D75A8256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14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7D582-FE47-4CD3-A343-8ECF50D7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3431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0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9F77C2-1562-446C-AD8B-DC21A553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374904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D27CDA-68F2-419C-86F2-ED56AFEA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[ƯU TIÊN THU HỒI / CHIẾN LƯỢC]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0D784-B293-4199-9663-8C4BD633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650928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d9cbc32644400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C01EE3-7D48-4FF3-B085-30810E7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[DASHBOARD SLA VẬN HÀNH]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31317-1916-4BC5-887A-2031BD0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SERVICE LEVEL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6152F-6E24-42A3-A742-FD050EB8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568B3-66F8-4055-B6FC-6511BB00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2087C-AD14-4B96-8016-217BBCAB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C6AE5-170D-432B-9ABA-E8D4B673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6FE67-CC42-4868-B464-634ACE99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[ĐÚNG SLA]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6B57D-86E0-42F8-9E9E-6409AFCE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[XX%]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31BD6-E43A-4363-82ED-AA507538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F6E"/>
                </a:solidFill>
              </a:defRPr>
            </a:pPr>
            <a:r>
              <a:rPr sz="1200" b="1">
                <a:solidFill>
                  <a:srgbClr val="0E9F6E"/>
                </a:solidFill>
              </a:rPr>
              <a:t>[±X điểm %]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A3315-8649-43C0-8A29-11A33F35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382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53054-BCA0-44B8-A663-5F12084C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90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[TAT TRUNG BÌNH]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AFB83-0B06-4BCD-9E3B-4DAF636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 PHÚT]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2C372-C4EC-484F-B396-F368898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812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[±XX%]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87613-AD00-4F04-921F-414D2433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2382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769BB-5BE9-45DA-BA7A-68623DBD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906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[BACKLOG]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E3202-2A65-4BE3-B9F9-DEE9BFF5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954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[XXX]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A6FD9-174F-4965-958E-3C7FCD4B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81225"/>
            <a:ext cx="2038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[±XX%]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D0D5A-C174-46EF-B63A-4765F042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38250"/>
            <a:ext cx="29337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C89AD-05FB-4114-83FE-974CAE26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906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[VI PHẠM SLA]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DD5D0-D1A2-4524-B76E-A857C5D7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11B3C-BDFC-4EA1-9E91-3E6CB531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81225"/>
            <a:ext cx="2590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0912"/>
                </a:solidFill>
              </a:defRPr>
            </a:pPr>
            <a:r>
              <a:rPr sz="1200" b="1">
                <a:solidFill>
                  <a:srgbClr val="F50912"/>
                </a:solidFill>
              </a:rPr>
              <a:t>[±XX%]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54AD1-E245-4FFE-8FC3-E5D99912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7239000" cy="2743200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D8517-536F-45D8-A38D-DA15D65A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SLA THEO QUY TRÌNH</a:t>
            </a:r>
          </a:p>
        </p:txBody>
      </p:sp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762000" y="3429000"/>
          <a:ext xmlns:a="http://schemas.openxmlformats.org/drawingml/2006/main" cx="6591300" cy="1771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27618a08b3472e"/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DAE64-A871-4E68-9C60-DD045BD2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124200" cy="2743200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526F6-01C6-4ADB-B9EF-9C89FE26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ĐIỂM NGHẼN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B96254-976C-4B50-AB72-440EB399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017F8E-0DC7-4525-AE73-4A991F21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337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F50912"/>
                </a:solidFill>
              </a:defRPr>
            </a:pPr>
            <a:r>
              <a:rPr sz="1100" b="1">
                <a:solidFill>
                  <a:srgbClr val="F50912"/>
                </a:solidFill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BCA71-8266-4DA4-B73C-A69FA8E1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6710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[QUY TRÌNH]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D6AF84-B4F1-44A7-B163-00FF6EEF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76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[NGUYÊN NHÂN]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EB9253-72AE-4FE5-88AC-225D111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0">
            <a:solidFill>
              <a:srgbClr val="FFF6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9E5F9-150E-4C3E-8CE1-70772ED1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24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9A6500"/>
                </a:solidFill>
              </a:defRPr>
            </a:pPr>
            <a:r>
              <a:rPr sz="1100" b="1">
                <a:solidFill>
                  <a:srgbClr val="9A6500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5CD92F-E61E-43D5-8877-70B310E9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576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[QUY TRÌNH]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9A83EF-4972-433A-98EC-ADB31202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[NGUYÊN NHÂN]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11D586-34BB-491D-9F7A-C289E796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67250"/>
            <a:ext cx="438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191A7F-0917-49FD-B2D6-5A09F854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148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1918C1-7BA8-4954-8B31-157D663B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4820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[QUY TRÌNH]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A0A203-4FA3-4126-AE05-8656DE7D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57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[NGUYÊN NHÂN]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1F399B-31E8-436F-BFB3-7F3967FE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41101210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55368eda54593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732E5-F2F7-4F75-8A99-8DF608F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[DASHBOARD SỰ CỐ HỆ THỐNG]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44B3A-7865-47B1-82E2-B79A9CCF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INCIDENT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6DF42-1573-4D11-B26D-7042DF15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6BB83-7361-4EC9-AC12-1E480FB5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3D26E-E2F3-4732-9DE4-2A318743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F4DB7-A665-44EE-AADB-13F95FF9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4193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50912">
                <a:alpha val="3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4E374-7F13-4142-9E3E-71100C22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0912"/>
                </a:solidFill>
              </a:defRPr>
            </a:pPr>
            <a:r>
              <a:rPr sz="1200" b="1">
                <a:solidFill>
                  <a:srgbClr val="F50912"/>
                </a:solidFill>
              </a:rPr>
              <a:t>SEV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7317B-F564-4CE3-968C-4FFDB6AC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[XX]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FF80D-C036-4BA2-B5CB-BA384E8F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219200"/>
            <a:ext cx="24193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F59E0B">
                <a:alpha val="3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C80D9-F736-4743-B764-AB0B5349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09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SEV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306FB-A205-4159-A728-CD32BB37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9545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[XX]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E6819-99AD-442A-9F99-31D8865E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219200"/>
            <a:ext cx="24193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9525">
            <a:solidFill>
              <a:srgbClr val="171EDB">
                <a:alpha val="3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AF284-9938-49C5-B03A-3DDDF58C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09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SEV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56B18-8044-4481-8C3E-C005C643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[XX]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58056-DA4A-4328-9C7A-B5920EB1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19200"/>
            <a:ext cx="24193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5F4"/>
          </a:solidFill>
          <a:ln xmlns:a="http://schemas.openxmlformats.org/drawingml/2006/main" w="9525">
            <a:solidFill>
              <a:srgbClr val="081235">
                <a:alpha val="33333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178C5-909D-4241-A75E-71C31AF0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09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235"/>
                </a:solidFill>
              </a:defRPr>
            </a:pPr>
            <a:r>
              <a:rPr sz="1200" b="1">
                <a:solidFill>
                  <a:srgbClr val="081235"/>
                </a:solidFill>
              </a:rPr>
              <a:t>MTTR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809F9-ACBF-483B-83F8-61413FEE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9545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081235"/>
                </a:solidFill>
              </a:defRPr>
            </a:pPr>
            <a:r>
              <a:rPr sz="2200" b="1">
                <a:solidFill>
                  <a:srgbClr val="081235"/>
                </a:solidFill>
              </a:rPr>
              <a:t>[XX PHÚT]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8B36F-C9A4-4386-B307-E19578D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44767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EE343-1EAB-4217-97B9-F185200E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DÒNG THỜI GIAN SỰ CỐ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F4A42-75A0-4F19-8699-CA4C01DF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38100" cy="175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4F74B-5DA4-4071-8B08-5C55B3FA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19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82E88-D7B1-41BC-A24C-FCE621AA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0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[HH:MM]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0E70D-04CC-4D7E-9B70-B932534D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81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[PHÁT HIỆN]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C7FEE2-88E8-48B4-A254-08CA134C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52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1B52F2-1C39-44CB-BE72-0F248709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33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[HH:MM]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AEA547-198F-454F-9757-1F484255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14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[KHOANH VÙNG]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6A07B8-DA05-4D40-A5BA-64EF2C39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47C3A-A8A4-4D5F-8EC7-09273BA7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7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[HH:MM]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542AE-A338-4FF0-AA45-29C17AAD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48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[KHÔI PHỤC]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E69D5-F577-4DFA-954C-36F293A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19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91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EC69B8-0CE9-4B4E-8247-9E32EA38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[HH:MM]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550A03-C76C-41F3-9086-702264E2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[ĐÓNG SỰ CỐ]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5907C9-89DC-4160-88E6-963B0F9F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[TÁC ĐỘNG KHÁCH HÀNG / GIAO DỊCH]</a:t>
            </a:r>
          </a:p>
        </p:txBody>
      </p:sp>
      <p:graphicFrame>
        <p:nvGraphicFramePr>
          <p:cNvPr id="73" name=""/>
          <p:cNvGraphicFramePr/>
          <p:nvPr/>
        </p:nvGraphicFramePr>
        <p:xfrm>
          <a:off xmlns:a="http://schemas.openxmlformats.org/drawingml/2006/main" x="5276850" y="2457450"/>
          <a:ext xmlns:a="http://schemas.openxmlformats.org/drawingml/2006/main" cx="584835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4358"/>
                <a:gridCol w="1949450"/>
                <a:gridCol w="1624542"/>
              </a:tblGrid>
              <a:tr h="48387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[HỆ THỐNG]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[TRẠNG THÁI]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[HỆ THỐNG A]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0912"/>
                          </a:solidFill>
                        </a:rPr>
                        <a:t>[ĐANG XỬ LÝ]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[ĐƠN VỊ]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[HỆ THỐNG B]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[THEO DÕI]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[ĐƠN VỊ]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[HỆ THỐNG C]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9F6E"/>
                          </a:solidFill>
                        </a:rPr>
                        <a:t>[ĐÃ KHÔI PHỤC]</a:t>
                      </a:r>
                    </a:p>
                  </a:txBody>
                  <a:tcPr marL="91440" marR="91440" marT="45720" marB="45720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[ĐƠN VỊ]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[HỆ THỐNG D]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[BÌNH THƯỜNG]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[ĐƠN VỊ]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938B42-4FCD-4585-A0BE-E506733E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67300"/>
            <a:ext cx="5848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DCEFCC-1A01-46F7-9346-801059BF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10175"/>
            <a:ext cx="541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171EDB"/>
                </a:solidFill>
              </a:defRPr>
            </a:pPr>
            <a:r>
              <a:rPr sz="1300" b="1">
                <a:solidFill>
                  <a:srgbClr val="171EDB"/>
                </a:solidFill>
              </a:rPr>
              <a:t>[NEXT UPDATE: HH:MM]  •  [HÀNH ĐỘNG TIẾP THEO]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01A743-040F-4FED-A2C3-5B02F7C2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27581095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09cf7e9624fbc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04E5DA-500C-4EB5-960C-71E3E44C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[PHÂN TÍCH NGUYÊN NHÂN GỐC]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B32A3-98BA-45BD-A272-309F9B72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ROOT CAUSE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23328-2143-4C2F-8929-3226A1C9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1C8C0-D065-42D1-8C8D-0F0B7FC9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5CDA9-D06A-43DC-84F0-7ECA80C2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A17DD-B9D2-488B-8FC7-C00A16B2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622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C03DD-8F54-43F2-87DA-95028C96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957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E9D9E-7886-44A1-BCCC-0C86522F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975A0-6939-4FD5-B31D-F38D9008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957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1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CEB17-FC45-41B6-9FFC-E02F342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362200"/>
            <a:ext cx="1905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A91A8"/>
          </a:solidFill>
          <a:ln xmlns:a="http://schemas.openxmlformats.org/drawingml/2006/main" w="0">
            <a:solidFill>
              <a:srgbClr val="8A91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6CF80-DB0F-4731-BE7F-869DAB34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362200"/>
            <a:ext cx="19050" cy="876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A91A8"/>
          </a:solidFill>
          <a:ln xmlns:a="http://schemas.openxmlformats.org/drawingml/2006/main" w="0">
            <a:solidFill>
              <a:srgbClr val="8A91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2AC0D-A307-44E6-967C-13684688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38500"/>
            <a:ext cx="19050" cy="857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A91A8"/>
          </a:solidFill>
          <a:ln xmlns:a="http://schemas.openxmlformats.org/drawingml/2006/main" w="0">
            <a:solidFill>
              <a:srgbClr val="8A91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A44E7-8A5E-44EE-9652-E471A72D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38500"/>
            <a:ext cx="19050" cy="857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A91A8"/>
          </a:solidFill>
          <a:ln xmlns:a="http://schemas.openxmlformats.org/drawingml/2006/main" w="0">
            <a:solidFill>
              <a:srgbClr val="8A91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2673E-0B0F-4BAC-B9A8-0F2E2A75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86050"/>
            <a:ext cx="24765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E30F7-535D-4259-A895-43765A88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</a:rPr>
              <a:t>[VẤN ĐỀ / SỰ CỐ]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E31A2-D998-4E29-BF25-4B0FC380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8288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54928-469B-4F3A-8678-1096D913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CON NGƯỜI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06AA9-16FE-4309-B32F-B06B0DF2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[NGUYÊN NHÂN / BẰNG CHỨNG]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2354B-152D-40B3-84FC-B0570DAD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18288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BC88A-75F9-45EB-B52E-687BE84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QUY TRÌNH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1FA24-C837-4D1B-BCCE-31F105D8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[NGUYÊN NHÂN / BẰNG CHỨNG]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1A14E-7E7D-433E-B592-50E469E0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52600"/>
            <a:ext cx="18288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9525">
            <a:solidFill>
              <a:srgbClr val="171E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2B25E8-0E7F-41F6-871C-D74D05A6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240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171EDB"/>
                </a:solidFill>
              </a:defRPr>
            </a:pPr>
            <a:r>
              <a:rPr sz="1400" b="1">
                <a:solidFill>
                  <a:srgbClr val="171EDB"/>
                </a:solidFill>
              </a:rPr>
              <a:t>HỆ THỐNG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D7C31-04EB-416F-8ED0-AE182D4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[NGUYÊN NHÂN / BẰNG CHỨNG]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1EA879-1008-4EE8-A834-BA120CE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86150"/>
            <a:ext cx="18288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2B811C-F09D-4A18-A8BC-0615FB82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DỮ LIỆU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A8369-E836-44EC-A79F-D29333A8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195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[NGUYÊN NHÂN / BẰNG CHỨNG]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A7DA2A-F3E2-4EA1-85D9-4F652B69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76800"/>
            <a:ext cx="6134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9B7B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7D0B5-5CE5-4BB4-B32E-5EB79852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48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0912"/>
                </a:solidFill>
              </a:defRPr>
            </a:pPr>
            <a:r>
              <a:rPr sz="1500" b="1">
                <a:solidFill>
                  <a:srgbClr val="F50912"/>
                </a:solidFill>
              </a:rPr>
              <a:t>[NGUYÊN NHÂN GỐC ĐÃ XÁC NHẬN]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E0D064-CB51-4295-9050-45AED8B7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533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081235"/>
                </a:solidFill>
              </a:defRPr>
            </a:pPr>
            <a:r>
              <a:rPr sz="1300" b="0">
                <a:solidFill>
                  <a:srgbClr val="081235"/>
                </a:solidFill>
              </a:rPr>
              <a:t>[HÀNH ĐỘNG KHẮC PHỤC / PHÒNG NGỪA]</a:t>
            </a:r>
          </a:p>
        </p:txBody>
      </p:sp>
    </p:spTree>
    <p:extLst>
      <p:ext uri="{BB962C8B-B14F-4D97-AF65-F5344CB8AC3E}">
        <p14:creationId xmlns:p14="http://schemas.microsoft.com/office/powerpoint/2010/main" val="2768941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f80e4bf3c48ac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26AD30-7650-4E89-A683-955F36D8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[KIỂM SOÁT &amp; TUÂN THỦ]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AF2E1-8678-4A8A-B776-A32034BA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CONTROLS &amp; COMPLIANCE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69907-CFFB-4A94-9381-4E3E385C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5EA20-7BF0-4C1D-AF45-31EF2F0C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7354D-481D-4800-B65B-463EBD97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36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33400" y="142875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0014"/>
                <a:gridCol w="1664127"/>
                <a:gridCol w="1664127"/>
                <a:gridCol w="1736481"/>
              </a:tblGrid>
              <a:tr h="61912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[KIỂM SOÁT]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[CHỦ SỞ HỮU]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[TẦN SUẤT]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[TRẠNG THÁI]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[KIỂM SOÁT 01]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[ĐƠN VỊ]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[HÀNG NGÀY]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[ĐẠT]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[KIỂM SOÁT 02]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[ĐƠN VỊ]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[HÀNG TUẦN]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A6500"/>
                          </a:solidFill>
                        </a:rPr>
                        <a:t>[CẦN LƯU Ý]</a:t>
                      </a:r>
                    </a:p>
                  </a:txBody>
                  <a:tcPr marL="91440" marR="91440" marT="45720" marB="45720">
                    <a:solidFill>
                      <a:srgbClr val="FFF6D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[KIỂM SOÁT 03]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[ĐƠN VỊ]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[HÀNG THÁNG]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[ĐẠT]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[KIỂM SOÁT 04]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[ĐƠN VỊ]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[HÀNG QUÝ]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0912"/>
                          </a:solidFill>
                        </a:rPr>
                        <a:t>[CHƯA ĐẠT]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[KIỂM SOÁT 05]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[ĐƠN VỊ]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[THEO SỰ KIỆN]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[ĐẠT]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7AC9B-6B98-4D23-A74D-958C97D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28750"/>
            <a:ext cx="2800350" cy="37147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BD7D9-8B51-43E7-AFAC-9D028F91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MỨC ĐỘ HOÀN THÀNH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648700" y="2190750"/>
          <a:ext xmlns:a="http://schemas.openxmlformats.org/drawingml/2006/main" cx="21526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61bea5757f488d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C93F8-B37F-4613-A688-F8E7CD84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00" b="1">
                <a:solidFill>
                  <a:srgbClr val="081235"/>
                </a:solidFill>
              </a:defRPr>
            </a:pPr>
            <a:r>
              <a:rPr sz="2800" b="1">
                <a:solidFill>
                  <a:srgbClr val="081235"/>
                </a:solidFill>
              </a:rPr>
              <a:t>[XX%]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502F4-5978-4CE0-948A-26300972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50912"/>
                </a:solidFill>
              </a:defRPr>
            </a:pPr>
            <a:r>
              <a:rPr sz="1400" b="1">
                <a:solidFill>
                  <a:srgbClr val="F50912"/>
                </a:solidFill>
              </a:rPr>
              <a:t>[VẤN ĐỀ TRỌNG YẾU / DEADLINE]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B3008-A684-48B6-ACDE-D94B3B6D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10591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7EC4D-0848-4660-9439-95AE7823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[KẾT LUẬN TUÂN THỦ]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66409-A0AA-4AAE-9455-D77F19A8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FFFFFF"/>
                </a:solidFill>
              </a:defRPr>
            </a:pPr>
            <a:r>
              <a:rPr sz="1400" b="0">
                <a:solidFill>
                  <a:srgbClr val="FFFFFF"/>
                </a:solidFill>
              </a:rPr>
              <a:t>[HÀNH ĐỘNG KHẮC PHỤC / OWNER / THỜI HẠN]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5D24E-7561-4E65-9FAF-AEBFBDF6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1265173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1376e4959426c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96F55F-CB1A-422C-906B-D3DC69A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[MA TRẬN ƯU TIÊN / QUYẾT ĐỊNH]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FAD17-7621-4A3C-A2ED-E523F23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DECISION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E786A-70E4-40EF-ACE8-C556EA3A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DDCA-7467-4D54-B9EE-2FDFE510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7FF7D-7045-4831-AFE9-83AF0868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2EEEE-0E4E-49D5-94DE-BD64A3EC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69532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6C1AD-D8E1-4A54-8725-69E68408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1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89DB4-D853-4AEB-BE6D-9CB36BBA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38525"/>
            <a:ext cx="607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A91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A8118-1593-4BBF-9898-883D89F4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TÁC ĐỘNG CAO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9858A-E952-4893-90BC-3E14BE9C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NỖ LỰC THẤP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92FED-D6FD-4C5C-88EC-08A51EF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00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NỖ LỰC CAO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3C935-2195-4912-817A-8D2D4982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2133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9525">
            <a:solidFill>
              <a:srgbClr val="171E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BBDFE-1E0F-448F-9830-02851504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[QUICK WIN]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4DF34-5D02-404F-AE69-BF6FFF8C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98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[SÁNG KIẾN / LỰA CHỌN]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85C11-834C-4692-870A-55EF71AC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2133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9525">
            <a:solidFill>
              <a:srgbClr val="0812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205FF-6AD4-478C-AABE-F507859C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[CHIẾN LƯỢC]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35505-2F7C-4011-A6EA-DF6120B0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98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FFFFFF">
                    <a:alpha val="80000"/>
                  </a:srgbClr>
                </a:solidFill>
              </a:defRPr>
            </a:pPr>
            <a:r>
              <a:rPr sz="1100" b="0">
                <a:solidFill>
                  <a:srgbClr val="FFFFFF">
                    <a:alpha val="80000"/>
                  </a:srgbClr>
                </a:solidFill>
              </a:rPr>
              <a:t>[SÁNG KIẾN / LỰA CHỌN]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41B0D-7680-44C7-BD66-C8BCDB7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2133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A91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E6AD48-6A04-43E9-963C-5B8F5FF7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767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[BỔ SUNG]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E9DF0-D736-4D0C-9A96-54920E8F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[SÁNG KIẾN / LỰA CHỌN]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2D25A-1784-40CD-99BC-9DC0313A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05250"/>
            <a:ext cx="2133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5091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DB2AE-2851-47D3-B7AA-024A808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767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235"/>
                </a:solidFill>
              </a:defRPr>
            </a:pPr>
            <a:r>
              <a:rPr sz="1500" b="1">
                <a:solidFill>
                  <a:srgbClr val="081235"/>
                </a:solidFill>
              </a:rPr>
              <a:t>[XEM XÉT]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ACB6C-901C-41D9-8037-0BD4904A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386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[SÁNG KIẾN / LỰA CHỌN]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945BAA-9CBE-4C80-AEDA-AB1CFFBD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90650"/>
            <a:ext cx="3371850" cy="40957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2C109-49E6-4DFD-B30D-6CB9BA02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ĐỀ XUẤT QUYẾT ĐỊNH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20A34-CA20-464D-A2C7-3E42B702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2838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FFFFFF"/>
                </a:solidFill>
              </a:defRPr>
            </a:pPr>
            <a:r>
              <a:rPr sz="2300" b="1">
                <a:solidFill>
                  <a:srgbClr val="FFFFFF"/>
                </a:solidFill>
              </a:rPr>
              <a:t>[LỰA CHỌN / PHƯƠNG ÁN]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726E66-E15C-444A-872E-86DF1566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DE682-B481-4E90-9A3A-1AB31DE2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[LÝ DO 01]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498C79-5E87-4FF9-9D2B-BD3B067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[MÔ TẢ]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9142E-FCD0-4F0C-B89D-7647C3C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[LÝ DO 02]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0DB154-F7A5-4367-9CA1-D0E0E078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671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[MÔ TẢ]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9C11E-FB73-4E3C-A94F-80C1E1A8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50912"/>
                </a:solidFill>
              </a:defRPr>
            </a:pPr>
            <a:r>
              <a:rPr sz="1100" b="1">
                <a:solidFill>
                  <a:srgbClr val="F50912"/>
                </a:solidFill>
              </a:rPr>
              <a:t>[RỦI RO]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2B34EF-BA19-4FAE-BF8D-D34DDD92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196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[MÔ TẢ]</a:t>
            </a:r>
          </a:p>
        </p:txBody>
      </p:sp>
    </p:spTree>
    <p:extLst>
      <p:ext uri="{BB962C8B-B14F-4D97-AF65-F5344CB8AC3E}">
        <p14:creationId xmlns:p14="http://schemas.microsoft.com/office/powerpoint/2010/main" val="205823956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802b11d27404d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A26FC4-0023-4A3E-A08B-3CD52DCE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[PHÂN TÍCH KỊCH BẢN]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59D88-56D9-4D55-B3A2-05315AE5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SCENARIO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B50D1-9AE5-429A-B8C9-2AE2E9CB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E2434-D913-474F-BEA4-55BAD4EA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FBE95-3698-49A9-AD82-14DFF5E5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83E59-DE72-4D81-ACC2-4EA0964B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34290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D89ED-711E-459E-9533-3DF5D49A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8A91A8"/>
                </a:solidFill>
              </a:defRPr>
            </a:pPr>
            <a:r>
              <a:rPr sz="1600" b="1">
                <a:solidFill>
                  <a:srgbClr val="8A91A8"/>
                </a:solidFill>
              </a:rPr>
              <a:t>THẬN TRỌNG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22B21-0B67-412E-A9CC-7A6185D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A91A8"/>
                </a:solidFill>
              </a:defRPr>
            </a:pPr>
            <a:r>
              <a:rPr sz="3000" b="1">
                <a:solidFill>
                  <a:srgbClr val="8A91A8"/>
                </a:solidFill>
              </a:rPr>
              <a:t>[XX%]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79FFE-2C81-42D8-A91D-8DDA875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[GIẢ ĐỊNH CHÍNH]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ADA50-5590-4663-A87A-1C5E635B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235"/>
                </a:solidFill>
              </a:defRPr>
            </a:pPr>
            <a:r>
              <a:rPr sz="1200" b="0">
                <a:solidFill>
                  <a:srgbClr val="081235"/>
                </a:solidFill>
              </a:rPr>
              <a:t>[TÁC ĐỘNG TỚI KPI / P&amp;L]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F8164-97D4-4A5E-931C-92838753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14450"/>
            <a:ext cx="34290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9525">
            <a:solidFill>
              <a:srgbClr val="0812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A201E-130C-4CEF-92F4-ADDA4448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43050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CƠ SỞ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7FAAD-461E-41E6-9238-67BED0FD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[XX%]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C39CE-9CE5-4A93-A04C-11144FD5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FFFFF">
                    <a:alpha val="72157"/>
                  </a:srgbClr>
                </a:solidFill>
              </a:defRPr>
            </a:pPr>
            <a:r>
              <a:rPr sz="1300" b="1">
                <a:solidFill>
                  <a:srgbClr val="FFFFFF">
                    <a:alpha val="72157"/>
                  </a:srgbClr>
                </a:solidFill>
              </a:rPr>
              <a:t>[GIẢ ĐỊNH CHÍNH]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5F22E-6E82-46BB-931C-D0ED324D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0000"/>
                  </a:srgbClr>
                </a:solidFill>
              </a:defRPr>
            </a:pPr>
            <a:r>
              <a:rPr sz="1200" b="0">
                <a:solidFill>
                  <a:srgbClr val="FFFFFF">
                    <a:alpha val="80000"/>
                  </a:srgbClr>
                </a:solidFill>
              </a:rPr>
              <a:t>[TÁC ĐỘNG TỚI KPI / P&amp;L]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2F83A-0113-48C2-BF65-28825B8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14450"/>
            <a:ext cx="34290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2DCB1-EA94-415E-8C9F-13A37D52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1EDB"/>
                </a:solidFill>
              </a:defRPr>
            </a:pPr>
            <a:r>
              <a:rPr sz="1600" b="1">
                <a:solidFill>
                  <a:srgbClr val="171EDB"/>
                </a:solidFill>
              </a:rPr>
              <a:t>TÍCH CỰC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7ACCD-5ACA-43D0-B0C1-886D13F7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EDB"/>
                </a:solidFill>
              </a:defRPr>
            </a:pPr>
            <a:r>
              <a:rPr sz="3000" b="1">
                <a:solidFill>
                  <a:srgbClr val="171EDB"/>
                </a:solidFill>
              </a:rPr>
              <a:t>[XX%]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F5A40-4A4D-4563-952D-A73EF888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8A91A8"/>
                </a:solidFill>
              </a:defRPr>
            </a:pPr>
            <a:r>
              <a:rPr sz="1300" b="1">
                <a:solidFill>
                  <a:srgbClr val="8A91A8"/>
                </a:solidFill>
              </a:rPr>
              <a:t>[GIẢ ĐỊNH CHÍNH]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F105A-4B43-4C8F-ADB1-5873D7B5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2420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1235"/>
                </a:solidFill>
              </a:defRPr>
            </a:pPr>
            <a:r>
              <a:rPr sz="1200" b="0">
                <a:solidFill>
                  <a:srgbClr val="081235"/>
                </a:solidFill>
              </a:rPr>
              <a:t>[TÁC ĐỘNG TỚI KPI / P&amp;L]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4298E-AE6D-4A0C-B055-06763581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111252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499CA-FAE9-49A2-8CAE-348B5A51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SO SÁNH KẾT QUẢ THEO KỊCH BẢN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762000" y="4400550"/>
          <a:ext xmlns:a="http://schemas.openxmlformats.org/drawingml/2006/main" cx="10382250" cy="1066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4b036c23b54d4b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B5C65-6948-47B3-85E7-AA15D782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722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Dữ liệu minh họa</a:t>
            </a:r>
          </a:p>
        </p:txBody>
      </p:sp>
    </p:spTree>
    <p:extLst>
      <p:ext uri="{BB962C8B-B14F-4D97-AF65-F5344CB8AC3E}">
        <p14:creationId xmlns:p14="http://schemas.microsoft.com/office/powerpoint/2010/main" val="104243636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fa48ad55e4cd3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150DA6-2F7E-4719-B8E9-A176FF8A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[TRẠNG THÁI DỰ ÁN / WORKSTREAM]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62AA8-9110-4325-A3B8-B7F4FB0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PROJECT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3B965-0574-4809-945D-BF2B3060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FE9AF-749D-4DF6-8FA0-95928B09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4A645-662E-4FD3-9744-3B34757F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1BB86-2DA6-429D-BF38-908B42A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6858000" cy="4248150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584B5-8A2B-400F-90C4-F25BA867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TIẾN ĐỘ WORKSTREAM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4361B-92C2-4378-8F76-81F35E5E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[WORKSTREAM 01]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21683-B585-40D5-8532-D0CEDCCC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[86%]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26C16-457A-4F2C-9C02-0B389E4C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6248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652E4-881A-453F-8A6F-C6190432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537362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E9F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7A4C7-F6CF-4F42-80A2-BD7B8173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[WORKSTREAM 02]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1FA29-8CA2-4F5B-B04D-55F72100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[68%]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FB051-0C82-4024-ADF9-CF4D8D29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6248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8C13A-010B-4BD9-B43F-3BDFF1C4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24891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021BC-E248-4680-ACF2-2ED53659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[WORKSTREAM 03]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CF4F8-EFED-4151-87F9-BCA2BA0B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24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[52%]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E5939-C699-4AAD-9119-885DCF6C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6248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CF40E-4A23-4A8C-A79F-A49F13BE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24916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886C9-FBCE-49A3-9818-D0AB490C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81235"/>
                </a:solidFill>
              </a:defRPr>
            </a:pPr>
            <a:r>
              <a:rPr sz="1400" b="1">
                <a:solidFill>
                  <a:srgbClr val="081235"/>
                </a:solidFill>
              </a:rPr>
              <a:t>[WORKSTREAM 04]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6CFB6-E47B-4F8E-AFE2-2EF686F4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[34%]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4D1A1-D725-4950-8CC1-41869D34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62484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19F35-DDDC-4C42-89E5-6450CFA8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124456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7054F-1BE3-47F5-A026-25823FAE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95400"/>
            <a:ext cx="3467100" cy="42481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0">
            <a:solidFill>
              <a:srgbClr val="0812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22D00-4FCD-4BE4-8ED7-91D55977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24000"/>
            <a:ext cx="2933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MỐC &amp; QUYẾT ĐỊNH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089992-D031-44A0-9218-0B0EC86F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38100" cy="2514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0E5DDC-E847-4184-A7EA-BABB8691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57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C48142-3324-4660-A664-55EB9716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38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[DD/MM]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37B6E9-4F10-419F-B778-5812CA3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[MỐC 01]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BBF9D-C116-4C20-9A43-667A9C9F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00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7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481281-6F1E-49E8-ADA6-8842BEE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[DD/MM]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325E8E-02F1-473E-9718-B96A9343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289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[MỐC 02]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125532-00B1-4E67-9AC6-9BC286C2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43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091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542147-8682-4D89-B6C4-24F7B1E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[DD/MM]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C9E360-6390-45E5-9BDA-798B4BAA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[QUYẾT ĐỊNH CẦN CÓ]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DDF993-176C-4F17-9B96-D0648BBB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91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B2BDA1-E292-498C-981D-2A89CDB7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FFFFFF">
                    <a:alpha val="60000"/>
                  </a:srgbClr>
                </a:solidFill>
              </a:defRPr>
            </a:pPr>
            <a:r>
              <a:rPr sz="1100" b="1">
                <a:solidFill>
                  <a:srgbClr val="FFFFFF">
                    <a:alpha val="60000"/>
                  </a:srgbClr>
                </a:solidFill>
              </a:rPr>
              <a:t>[DD/MM]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BD355C-035C-4E4F-A1D0-E7C52B86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[MỐC 04]</a:t>
            </a:r>
          </a:p>
        </p:txBody>
      </p:sp>
    </p:spTree>
    <p:extLst>
      <p:ext uri="{BB962C8B-B14F-4D97-AF65-F5344CB8AC3E}">
        <p14:creationId xmlns:p14="http://schemas.microsoft.com/office/powerpoint/2010/main" val="4806880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aede937954eed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F48F29-35CD-4771-93EC-40E689C1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[THEO DÕI HÀNH ĐỘNG]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AAD38-C7F6-4C94-9619-FDA900BE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EXECUTION TRACKER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E4DAC-A0B6-43DC-B687-2CD53D62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2205C-22E4-4E98-BDF8-CF40CEBB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1DCD5-4A95-4551-8541-AE85D731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A7641-3CA9-4635-854C-87002A1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[PHẠM VI / KỲ BÁO CÁO]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D4A75-877B-46FA-987A-96AFB443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0490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7D61D-16CD-4E9F-9285-633AFB6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525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E9F6E"/>
                </a:solidFill>
              </a:defRPr>
            </a:pPr>
            <a:r>
              <a:rPr sz="1100" b="1">
                <a:solidFill>
                  <a:srgbClr val="0E9F6E"/>
                </a:solidFill>
              </a:rPr>
              <a:t>XONG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8FE8A-2926-4CCC-9F8E-EDBD226D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10490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B0C0B-9600-42AC-B133-F8A703D9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525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ĐANG LÀM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2CE20-147C-411F-BBD3-8E980061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1049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9A69C-9B21-4174-BE47-1D8CDEBE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1525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F50912"/>
                </a:solidFill>
              </a:defRPr>
            </a:pPr>
            <a:r>
              <a:rPr sz="1100" b="1">
                <a:solidFill>
                  <a:srgbClr val="F50912"/>
                </a:solidFill>
              </a:rPr>
              <a:t>TRỄ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533400" y="1504950"/>
          <a:ext xmlns:a="http://schemas.openxmlformats.org/drawingml/2006/main" cx="111252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3138"/>
                <a:gridCol w="1633771"/>
                <a:gridCol w="1400375"/>
                <a:gridCol w="1867166"/>
                <a:gridCol w="2800750"/>
              </a:tblGrid>
              <a:tr h="62547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[HÀNH ĐỘNG]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[OWNER]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[HẠN]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[TRẠNG THÁI]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[BƯỚC TIẾP THEO]</a:t>
                      </a:r>
                    </a:p>
                  </a:txBody>
                  <a:tcPr marL="91440" marR="91440" marT="45720" marB="45720">
                    <a:solidFill>
                      <a:srgbClr val="081235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[HÀNH ĐỘNG 01]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[HỌ TÊN]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[DD/MM]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9F6E"/>
                          </a:solidFill>
                        </a:rPr>
                        <a:t>[ĐÃ XONG]</a:t>
                      </a:r>
                    </a:p>
                  </a:txBody>
                  <a:tcPr marL="91440" marR="91440" marT="45720" marB="45720">
                    <a:solidFill>
                      <a:srgbClr val="E9F8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[NỘI DUNG]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[HÀNH ĐỘNG 02]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[HỌ TÊN]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[DD/MM]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1EDB"/>
                          </a:solidFill>
                        </a:rPr>
                        <a:t>[ĐANG LÀM]</a:t>
                      </a:r>
                    </a:p>
                  </a:txBody>
                  <a:tcPr marL="91440" marR="91440" marT="45720" marB="45720">
                    <a:solidFill>
                      <a:srgbClr val="E9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[NỘI DUNG]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[HÀNH ĐỘNG 03]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[HỌ TÊN]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[DD/MM]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50912"/>
                          </a:solidFill>
                        </a:rPr>
                        <a:t>[TRỄ HẠN]</a:t>
                      </a:r>
                    </a:p>
                  </a:txBody>
                  <a:tcPr marL="91440" marR="91440" marT="45720" marB="45720">
                    <a:solidFill>
                      <a:srgbClr val="FF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[NỘI DUNG]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[HÀNH ĐỘNG 04]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[HỌ TÊN]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[DD/MM]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[CHƯA BẮT ĐẦU]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[NỘI DUNG]</a:t>
                      </a:r>
                    </a:p>
                  </a:txBody>
                  <a:tcPr marL="91440" marR="91440" marT="45720" marB="45720">
                    <a:solidFill>
                      <a:srgbClr val="F8F9FC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[HÀNH ĐỘNG 05]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[HỌ TÊN]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[DD/MM]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[ĐANG LÀM]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1235"/>
                          </a:solidFill>
                        </a:rPr>
                        <a:t>[NỘI DUNG]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1EA9F-7C60-41FE-A6C6-068FA2E6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904C8-334C-4473-95A2-41D05378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EDB"/>
                </a:solidFill>
              </a:defRPr>
            </a:pPr>
            <a:r>
              <a:rPr sz="1500" b="1">
                <a:solidFill>
                  <a:srgbClr val="171EDB"/>
                </a:solidFill>
              </a:rPr>
              <a:t>[QUYẾT ĐỊNH / ESCALATION CẦN THIẾT]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E804F-71CE-4358-93C1-67F1CC7E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81235"/>
                </a:solidFill>
              </a:defRPr>
            </a:pPr>
            <a:r>
              <a:rPr sz="1300" b="1">
                <a:solidFill>
                  <a:srgbClr val="081235"/>
                </a:solidFill>
              </a:rPr>
              <a:t>[NGƯỜI QUYẾT ĐỊNH]  •  [THỜI HẠN]</a:t>
            </a:r>
          </a:p>
        </p:txBody>
      </p:sp>
    </p:spTree>
    <p:extLst>
      <p:ext uri="{BB962C8B-B14F-4D97-AF65-F5344CB8AC3E}">
        <p14:creationId xmlns:p14="http://schemas.microsoft.com/office/powerpoint/2010/main" val="10186496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170a1b20e4f7e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D21CCD-43BB-416A-8790-8E4170C5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HƯỚNG DẪN SỬ DỤNG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B1F04-28B3-4D95-BA80-3A834DAA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BRAND &amp; DATA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03D7E-6BC3-4014-B063-98057565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DF097-5A93-4191-BDC9-D677A7A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B5B72-66D6-47A2-94F2-4315933D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721D3-B286-45FA-8619-46DB528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01. MÀU SẮC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F0C01-4421-4F4A-932F-5A05CD8F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14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9525">
            <a:solidFill>
              <a:srgbClr val="171E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C9526-B133-4F83-9A49-A8DD4B7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MB Blue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63059-CC8A-4BE3-B186-8B084C70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62100"/>
            <a:ext cx="914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9525">
            <a:solidFill>
              <a:srgbClr val="F509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42232-37C5-4187-8C4E-2C9617D8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621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MB 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E77B3-B7A0-4A8D-8740-9632F94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62100"/>
            <a:ext cx="914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1235"/>
          </a:solidFill>
          <a:ln xmlns:a="http://schemas.openxmlformats.org/drawingml/2006/main" w="9525">
            <a:solidFill>
              <a:srgbClr val="0812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1932E-8BE2-47FE-A10D-2D118819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621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Ink Navy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1C2AF-6DC3-4D58-83F6-003596E8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914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8A91A8"/>
          </a:solidFill>
          <a:ln xmlns:a="http://schemas.openxmlformats.org/drawingml/2006/main" w="9525">
            <a:solidFill>
              <a:srgbClr val="8A91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4476D-14B8-465D-A958-EDECDDAD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621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Cool Gray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B2570-1650-48B6-BC1D-2B58528D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914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9525">
            <a:solidFill>
              <a:srgbClr val="E9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581E1-71D5-4637-BB66-A92C8087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Light Blue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C8ADD-21A1-4364-80E7-8B1CCD9D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47900"/>
            <a:ext cx="914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5F4"/>
          </a:solidFill>
          <a:ln xmlns:a="http://schemas.openxmlformats.org/drawingml/2006/main" w="9525">
            <a:solidFill>
              <a:srgbClr val="F3F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C5AF8-F697-4D5B-9FB7-5AC18266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479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Background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62132-9C29-41C3-BB98-2AD051A6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47900"/>
            <a:ext cx="914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B888D-0C98-46E1-9A0E-030A020D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479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White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F5D1B-BFD5-43B0-BE7F-3D15BCA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1811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02. TYPOGRAPHY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7F96E-76A7-41A8-A202-569D1FB1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81150"/>
            <a:ext cx="333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81235"/>
                </a:solidFill>
              </a:defRPr>
            </a:pPr>
            <a:r>
              <a:rPr sz="2600" b="1">
                <a:solidFill>
                  <a:srgbClr val="081235"/>
                </a:solidFill>
              </a:rPr>
              <a:t>Space Grotesk Bold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B2D6A-1E12-4EA6-BEF3-5E2B28FA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431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Headline • Subheadline •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16421-1126-4526-A92C-034BB92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081235"/>
                </a:solidFill>
              </a:defRPr>
            </a:pPr>
            <a:r>
              <a:rPr sz="2000" b="0">
                <a:solidFill>
                  <a:srgbClr val="081235"/>
                </a:solidFill>
              </a:rPr>
              <a:t>Inter Regular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455AF-4F26-443C-920D-F0DF13D4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0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Body • Caption • Table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30B0F-672B-48C2-BF06-104EE582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11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03. GRID 12 CỘT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1DC4FA-A5DD-4C37-9C8E-A08A1A19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0E910-FF28-44BC-8E7D-C0F8F77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CD0659-FF2A-4093-9D85-B64F9E23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4DA3D1-D61C-48D2-9CD6-0B1B873B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761722-E230-47BF-AA47-64B2BF19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95E6F-8953-41D8-8E4A-CE29EBBC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EAB35B-6CFE-4127-947B-AE7B495B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2E89F6-0B34-4B09-AD37-662EA908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F8728-FDCC-4CAA-AF35-87C3F833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3B3608-656A-47B7-B910-BF29E8C4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F29B1E-0CDE-46B5-A9D6-8927EC15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5944AA-BF56-43CB-B12C-265AA1D1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1581150"/>
            <a:ext cx="133350" cy="1295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1E1FE2-43AB-47D9-90AF-858C87FC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Margin 56–72 px</a:t>
            </a:r>
          </a:p>
          <a:p xmlns:a="http://schemas.openxmlformats.org/drawingml/2006/main">
            <a:pPr algn="l">
              <a:defRPr sz="1200" b="0">
                <a:solidFill>
                  <a:srgbClr val="8A91A8"/>
                </a:solidFill>
              </a:defRPr>
            </a:pPr>
            <a:r>
              <a:rPr sz="1200" b="0">
                <a:solidFill>
                  <a:srgbClr val="8A91A8"/>
                </a:solidFill>
              </a:rPr>
              <a:t>Gutter 16–24 px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CE70E5-CF98-489A-9D11-F3750885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730E59-FCA6-4431-A2A0-6FB3BB17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04. QUY TẮC BIỂU ĐỒ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79F77D-0C85-4FB3-9FBD-4D6F713C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D0610F-78EE-4673-81D0-2718ACC7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081235"/>
                </a:solidFill>
              </a:defRPr>
            </a:pPr>
            <a:r>
              <a:rPr sz="1400" b="0">
                <a:solidFill>
                  <a:srgbClr val="081235"/>
                </a:solidFill>
              </a:rPr>
              <a:t>Ưu tiên 1 insight / biểu đồ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0C10A7-683E-4978-9637-B0AEAFF5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EBA04-FA68-4C77-B790-66BA01F7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081235"/>
                </a:solidFill>
              </a:defRPr>
            </a:pPr>
            <a:r>
              <a:rPr sz="1400" b="0">
                <a:solidFill>
                  <a:srgbClr val="081235"/>
                </a:solidFill>
              </a:rPr>
              <a:t>Tối đa 2–4 màu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628A19-E0F0-46A8-9078-904AACEA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DB"/>
          </a:solidFill>
          <a:ln xmlns:a="http://schemas.openxmlformats.org/drawingml/2006/main" w="0">
            <a:solidFill>
              <a:srgbClr val="171E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02D815-22CB-46D6-8D0C-DCF575C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081235"/>
                </a:solidFill>
              </a:defRPr>
            </a:pPr>
            <a:r>
              <a:rPr sz="1400" b="0">
                <a:solidFill>
                  <a:srgbClr val="081235"/>
                </a:solidFill>
              </a:rPr>
              <a:t>Không dùng biểu đồ 3D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61E859-4D81-4D78-B4BF-E36AFEC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0912"/>
          </a:solidFill>
          <a:ln xmlns:a="http://schemas.openxmlformats.org/drawingml/2006/main" w="0">
            <a:solidFill>
              <a:srgbClr val="F5091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FD05C1-B786-4B0A-9986-FD8282F6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081235"/>
                </a:solidFill>
              </a:defRPr>
            </a:pPr>
            <a:r>
              <a:rPr sz="1400" b="0">
                <a:solidFill>
                  <a:srgbClr val="081235"/>
                </a:solidFill>
              </a:rPr>
              <a:t>Ghi rõ đơn vị và ‘Dữ liệu minh họa’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77F5AA-2FA2-4F16-BF84-E94F603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09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05. SPACING &amp; RADIUS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289A00-9C8B-447D-95F9-805F7E7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29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91A8"/>
                </a:solidFill>
              </a:defRPr>
            </a:pPr>
            <a:r>
              <a:rPr sz="1200" b="1">
                <a:solidFill>
                  <a:srgbClr val="8A91A8"/>
                </a:solidFill>
              </a:rPr>
              <a:t>Spacing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4D9F9B-D9D2-4EFF-BA65-0595614F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52950"/>
            <a:ext cx="20955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63ECC4-7AB3-4854-ADD5-77529C0B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14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18D7EC-FBE1-4209-8BC6-E8E65804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52950"/>
            <a:ext cx="2286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EA4BA7-462E-47BD-A502-DBDA090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14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B0661A-AADF-4CB8-B567-B68A32C8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52950"/>
            <a:ext cx="247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878618-90AD-44ED-86CF-9D53EF7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14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DED76C-E5EA-4914-9159-0DE009F0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52950"/>
            <a:ext cx="2667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A0B3F6-FE1D-44B4-AE4D-62D783DD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14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16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AF72A80-1A3C-4056-8670-7A4A242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285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04766B-68C9-4A5F-8354-48FDDFC0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14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24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C84417-E918-4F1F-B2B3-4DB22553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52950"/>
            <a:ext cx="30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F06145-D6F2-465E-B1C4-6C9D0DC7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14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32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E015983-F858-4463-BC8F-D5127612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52950"/>
            <a:ext cx="3238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ECFF"/>
          </a:solidFill>
          <a:ln xmlns:a="http://schemas.openxmlformats.org/drawingml/2006/main" w="0">
            <a:solidFill>
              <a:srgbClr val="E9EC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D659C5-A012-4635-B9B4-BC02DD44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14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8A91A8"/>
                </a:solidFill>
              </a:defRPr>
            </a:pPr>
            <a:r>
              <a:rPr sz="1100" b="0">
                <a:solidFill>
                  <a:srgbClr val="8A91A8"/>
                </a:solidFill>
              </a:rPr>
              <a:t>48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B4AD99-8937-4005-91D7-8D336F73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314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081235"/>
                </a:solidFill>
              </a:defRPr>
            </a:pPr>
            <a:r>
              <a:rPr sz="1300" b="0">
                <a:solidFill>
                  <a:srgbClr val="081235"/>
                </a:solidFill>
              </a:rPr>
              <a:t>Radius 8 / 12 / 16 px • Shadow nhẹ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C31109-75CB-46DC-A722-E53FF4B3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909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81235"/>
                </a:solidFill>
              </a:defRPr>
            </a:pPr>
            <a:r>
              <a:rPr sz="1700" b="1">
                <a:solidFill>
                  <a:srgbClr val="081235"/>
                </a:solidFill>
              </a:rPr>
              <a:t>06. TRẠNG THÁI DỮ LIỆU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79D2749-6D8A-48F7-B9A4-A8A3D3D1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862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49A0E3-638F-4B66-B412-0E1EFC5B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338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0E9F6E"/>
                </a:solidFill>
              </a:defRPr>
            </a:pPr>
            <a:r>
              <a:rPr sz="1100" b="1">
                <a:solidFill>
                  <a:srgbClr val="0E9F6E"/>
                </a:solidFill>
              </a:rPr>
              <a:t>Tích cực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11F211A-0172-4198-80E8-2FE62B3D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862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0">
            <a:solidFill>
              <a:srgbClr val="FFF6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D40962-DE00-483E-8175-4D5A15BF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338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9A6500"/>
                </a:solidFill>
              </a:defRPr>
            </a:pPr>
            <a:r>
              <a:rPr sz="1100" b="1">
                <a:solidFill>
                  <a:srgbClr val="9A6500"/>
                </a:solidFill>
              </a:rPr>
              <a:t>Cảnh báo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FFE9EDE-2BBC-4E73-8FEF-5C0B8B43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86250"/>
            <a:ext cx="895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solidFill>
              <a:srgbClr val="FFF0F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905A64-C908-45E2-960C-86BB56DB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3338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F50912"/>
                </a:solidFill>
              </a:defRPr>
            </a:pPr>
            <a:r>
              <a:rPr sz="1100" b="1">
                <a:solidFill>
                  <a:srgbClr val="F50912"/>
                </a:solidFill>
              </a:rPr>
              <a:t>Tiêu cực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75E845-A777-4427-AE1E-52029829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196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8A91A8"/>
                </a:solidFill>
              </a:defRPr>
            </a:pPr>
            <a:r>
              <a:rPr sz="1300" b="0">
                <a:solidFill>
                  <a:srgbClr val="8A91A8"/>
                </a:solidFill>
              </a:rPr>
              <a:t>Chỉ dùng xanh lá, vàng và đỏ cho trạng thái dữ liệu. Đỏ thương hiệu dùng tiết chế cho nhấn mạnh hoặc cảnh báo.</a:t>
            </a:r>
          </a:p>
        </p:txBody>
      </p:sp>
    </p:spTree>
    <p:extLst>
      <p:ext uri="{BB962C8B-B14F-4D97-AF65-F5344CB8AC3E}">
        <p14:creationId xmlns:p14="http://schemas.microsoft.com/office/powerpoint/2010/main" val="17987675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bdc17e6234707"/>
          <a:stretch xmlns:a="http://schemas.openxmlformats.org/drawingml/2006/main"/>
        </p:blipFill>
        <p:spPr>
          <a:xfrm xmlns:a="http://schemas.openxmlformats.org/drawingml/2006/main">
            <a:off x="533400" y="248347"/>
            <a:ext cx="895350" cy="436756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40655E-C71B-4B5A-9F7B-557A6F06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1235"/>
                </a:solidFill>
              </a:defRPr>
            </a:pPr>
            <a:r>
              <a:rPr sz="3600" b="1">
                <a:solidFill>
                  <a:srgbClr val="081235"/>
                </a:solidFill>
              </a:rPr>
              <a:t>THƯ VIỆN 40 LAYOUT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C801D-26B6-44F9-8DA5-1BEAC2CD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71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171EDB"/>
                </a:solidFill>
              </a:defRPr>
            </a:pPr>
            <a:r>
              <a:rPr sz="1100" b="1">
                <a:solidFill>
                  <a:srgbClr val="171EDB"/>
                </a:solidFill>
              </a:rPr>
              <a:t>LAYOUT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D1A78-947A-44DC-A01B-28C791CE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6F444-993A-4355-9D61-529E8CC5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A91A8"/>
                </a:solidFill>
              </a:defRPr>
            </a:pPr>
            <a:r>
              <a:rPr sz="1100" b="1">
                <a:solidFill>
                  <a:srgbClr val="8A91A8"/>
                </a:solidFill>
              </a:rPr>
              <a:t>MB FINANCE &amp; BANKING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F43D8-D3A7-406F-B7CC-55DE0FE5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52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1EDB"/>
                </a:solidFill>
              </a:defRPr>
            </a:pPr>
            <a:r>
              <a:rPr sz="1200" b="1">
                <a:solidFill>
                  <a:srgbClr val="171EDB"/>
                </a:solidFill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86211-4633-40C5-97E0-44B67CD6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1525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0e2e9dffd44d3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1811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FC329-C51D-48C1-B098-599A1884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01  Cover Light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9A0AF-DF06-45F7-86F5-B5AADD35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1525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1dac3f0ba4c92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4050" y="11811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CA85A-7AF2-4A72-8DAF-153D0AC4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62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02  Cover Gradient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6FA42-AB51-4EC8-B8CF-E385FE6C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1525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24237b10e4848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11811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91EB2-C673-4F4A-ADE3-AD53F33C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62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03  Agenda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9296D-D0D9-4781-A43B-16EF75C2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1525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7ff8e25a94e6b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5350" y="11811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8685F-7482-49F3-B746-EE334B76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62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04  Section Divider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5E116-FA32-43F5-9839-A8AE377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1525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c1cd6b3314838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1811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99ADF-1555-4029-91E4-F512AD8B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05  Executive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D91D6-DDE2-4F43-AFE0-88DA530F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1525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53272fe444a45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11811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C4653-FEB3-4A51-946E-4B2F3AFD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06  Key Message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47B0F0-036A-4FCA-98BA-13D16ABC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1525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8e3553bb84976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11811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980D0-C47D-4C34-A813-EB991DE4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07  KPI Overview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65FCB-D052-49D1-8C78-72A9288C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1525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c9c12dd5b45af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11811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E6AD4-79B8-4B3C-BC66-472867E8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62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08  Financial 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A7EC16-1019-4BFA-9A65-20BA601E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3360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580a08fbf45b3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6217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C33F96-E815-4EB7-8FFA-0E5D727C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09  Trend Over 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E15B8D-CE50-42D8-A48F-0E01C5B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13360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52ddcc32e4c58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4050" y="216217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EAB19F-124D-4711-8587-61A48BDD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432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10  Plan vs Actual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102973-F7B9-43AF-B722-B5F598B1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3360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be79d5347404c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216217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25C1B3-9E83-4560-B7D8-F0B70923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432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11  Composition &amp; Allocation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32A764-C2A4-478F-9133-40E43561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3360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889d267c54f03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5350" y="216217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B56A26-C348-4C9A-A4C2-9D50D46D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432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12  Financial Data Table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9E6276-CEE9-40D9-B02E-8B8DD6EE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eaccbd5284152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16217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286645-171F-43D1-A7F9-1F143568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13  Product Comparison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E48D3D-42CB-4F95-8BA4-58E3DE4A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3360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e29616d8c4733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216217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B86119-31D6-4F28-9057-ED900AC4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14  CX VOC Dashboard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7312DD-D0DD-43B6-9B1D-F22C2EA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3360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2e16986bd4c71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216217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A9487F-7A92-4F0C-8640-9BB8D4BB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432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15  Customer Journey Funnel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E40984-D751-48FB-BDF8-43661F16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13360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faf07b2454947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216217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7D6F67-EE35-472D-940B-E06DACD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432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16  Problem Evidence Solution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FBEC50-CEAF-4B16-AE91-24504435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1467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234c547a94b8f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314325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89742D-2837-4AE5-8D33-85579DC0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17  Banking Process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92078F-3743-43E0-98BE-1523FB93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11467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904e8e4554781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4050" y="314325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E5FD4F-0075-4B55-8818-26BB3715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24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18  Risk Matrix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FAAE4A-A7AE-4C1F-B2D8-A08259BD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1467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d94ebccb44bcd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314325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4CCA19-3960-4632-AEE0-9466A810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19  Roadmap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7715F0-37CD-49A5-B850-53C147B9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11467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caa1a23df4052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5350" y="314325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1B7BAF-0C44-4E08-8FEB-9786D46F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24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20  Product UI Showcase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4818A6-2B67-4457-9E51-50C0BA32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1467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93ee3f7ea49a8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14325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8C2ECA-EED8-47F9-B3ED-802D63E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21  Case Study Overview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81CF85-A7B2-433A-9433-F23C4B71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1467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22f70aa684109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314325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10077A-FDCC-4867-90F8-8435FB9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24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22  Closing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286D86-B3DF-4509-BF9B-8B712520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1467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a223a2a6546e2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314325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DB76C82-2560-4B8B-BCCD-20584237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24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23  VOC Verbatim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9CC70C-290E-4FDE-8DD8-C0672383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1467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bd2c27e3246d7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314325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EF61140-7273-463F-94BE-81C5CEA7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243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24  Data Insight Split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C9AEAF2-A4D6-4C99-8DE1-3AB94687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9575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a039b5b98435f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12432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3329117-619F-464E-82FD-DDA4A895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053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25  Balance Sheet Snapshot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272D521-7FF8-4A9D-8463-33C23E4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09575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8aef9abd54a9a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4050" y="412432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78D2A2E-AD1C-43BF-842F-2428862D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053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26  P&amp;L Bridge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B531B8-62F7-4488-AA9E-8A5A2F58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9575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8bf8b0dba4e83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412432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CC2F627-3089-4963-8423-83176991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053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27  Cash Flow Overview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48190E-D0E8-471E-B06E-AD4834CE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9575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428cbf965484f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5350" y="412432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D6BCB11-7950-4910-A35A-B7B4C968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053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28  Segment Performance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0ACA3E9-1A6D-4D45-85C8-F5FC9045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d8f022371494d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412432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248307C-74D8-4710-B4BA-734E4337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29  Region Performance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A70846-80DF-4282-B86D-34A33407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09575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340447dd44e71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412432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5EE7E3-76D6-4F5E-AEBA-81862FC4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053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30  CIB Client Portfolio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E8FB5AE-600B-4F04-A7D7-185D65BA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9575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ec63894354b59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412432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2408A4-07FE-429C-A0B2-EBA818EA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053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31  Credit Quality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F004337-E2C3-46D0-AE01-BCB556B0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095750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8edfeacca410f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4124325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FB2EF5-52AB-4658-AE0E-52FC5D40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053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32  Collections Trend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63FB9F-1CBF-464A-8CB3-2B552F9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0768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52c0b6dba43bd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51054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68A5BF3-2D81-4045-9CD4-BDC14EFD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33  SLA Dashboard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839DE33-B1AD-4E65-9F02-E577938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0768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3b1b30e0447c1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4050" y="51054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62105DE-978A-4D03-940D-E7FAA9CC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864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34  Incident Dashboard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E7D13C0-A07C-433A-8FFE-C2ECE6D6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768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6a188463e421f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51054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3C6C396-B253-4673-9AF8-B5B74658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35  Root Cause Analysis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A06A6AA-D109-4515-97D1-D95E86A9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768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3316c509c4840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5350" y="51054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F99DB60-DD88-40DE-A292-7AB24227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864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36  Controls Compliance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5415EF1-4D30-4352-B762-AAAF35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768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48480f0bf4153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1054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F1FAE2D-0788-424D-9833-C04F626E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864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37  Decision Matrix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D4E3CD1-C1A8-4D29-82D8-758803DE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0768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83c4007c64195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51054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2840AFB-1060-4E2A-B588-A9B71E63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864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38  Scenario Analysis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CCA9F6A-0FE1-462E-899D-C4C06E47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0768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a1b24b23846fd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51054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4639439-BFD5-4C53-A3F1-BD52997F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8864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39  Project Status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E4CA38D-080C-40EE-81A9-E74AE0AE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076825"/>
            <a:ext cx="1352550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E"/>
            </a:solidFill>
            <a:prstDash val="solid"/>
          </a:ln>
        </p:spPr>
      </p:sp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1e333eed444d5"/>
          <a:srcRect xmlns:a="http://schemas.openxmlformats.org/drawingml/2006/main" l="325" t="0" r="3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5105400"/>
            <a:ext cx="1295400" cy="733425"/>
          </a:xfrm>
          <a:prstGeom xmlns:a="http://schemas.openxmlformats.org/drawingml/2006/main" prst="rect">
            <a:avLst/>
          </a:prstGeom>
        </p:spPr>
      </p:pic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566252C-60CC-4E7D-905E-7418200D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8864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081235"/>
                </a:solidFill>
              </a:defRPr>
            </a:pPr>
            <a:r>
              <a:rPr sz="1100" b="1">
                <a:solidFill>
                  <a:srgbClr val="081235"/>
                </a:solidFill>
              </a:rPr>
              <a:t>40  Action Tracker</a:t>
            </a:r>
          </a:p>
        </p:txBody>
      </p:sp>
    </p:spTree>
    <p:extLst>
      <p:ext uri="{BB962C8B-B14F-4D97-AF65-F5344CB8AC3E}">
        <p14:creationId xmlns:p14="http://schemas.microsoft.com/office/powerpoint/2010/main" val="552541166"/>
      </p:ext>
    </p:extLst>
  </p:cSld>
</p:sld>
</file>

<file path=ppt/theme/theme1.xml><?xml version="1.0" encoding="utf-8"?>
<a:theme xmlns:a="http://schemas.openxmlformats.org/drawingml/2006/main" name="ChatGPT">
  <a:themeElements>
    <a:clrScheme name="MB Finance Banking">
      <a:dk1>
        <a:srgbClr val="000000"/>
      </a:dk1>
      <a:lt1>
        <a:srgbClr val="FFFFFF"/>
      </a:lt1>
      <a:dk2>
        <a:srgbClr val="081235"/>
      </a:dk2>
      <a:lt2>
        <a:srgbClr val="E9ECFF"/>
      </a:lt2>
      <a:accent1>
        <a:srgbClr val="171EDB"/>
      </a:accent1>
      <a:accent2>
        <a:srgbClr val="F50912"/>
      </a:accent2>
      <a:accent3>
        <a:srgbClr val="081235"/>
      </a:accent3>
      <a:accent4>
        <a:srgbClr val="8A91A8"/>
      </a:accent4>
      <a:accent5>
        <a:srgbClr val="E9ECFF"/>
      </a:accent5>
      <a:accent6>
        <a:srgbClr val="0E9F6E"/>
      </a:accent6>
      <a:hlink>
        <a:srgbClr val="171EDB"/>
      </a:hlink>
      <a:folHlink>
        <a:srgbClr val="F5091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B Finance Bank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2026-08-25T14:48:24.9640000Z</dcterms:created>
  <dcterms:modified xsi:type="dcterms:W3CDTF">2026-08-25T14:48:24.9640000Z</dcterms:modified>
</coreProperties>
</file>